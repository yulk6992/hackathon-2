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23"/>
  </p:notesMasterIdLst>
  <p:sldIdLst>
    <p:sldId id="256" r:id="rId2"/>
    <p:sldId id="271" r:id="rId3"/>
    <p:sldId id="274" r:id="rId4"/>
    <p:sldId id="270" r:id="rId5"/>
    <p:sldId id="277" r:id="rId6"/>
    <p:sldId id="264" r:id="rId7"/>
    <p:sldId id="269" r:id="rId8"/>
    <p:sldId id="259" r:id="rId9"/>
    <p:sldId id="278" r:id="rId10"/>
    <p:sldId id="285" r:id="rId11"/>
    <p:sldId id="286" r:id="rId12"/>
    <p:sldId id="284" r:id="rId13"/>
    <p:sldId id="279" r:id="rId14"/>
    <p:sldId id="267" r:id="rId15"/>
    <p:sldId id="273" r:id="rId16"/>
    <p:sldId id="268" r:id="rId17"/>
    <p:sldId id="276" r:id="rId18"/>
    <p:sldId id="260" r:id="rId19"/>
    <p:sldId id="263" r:id="rId20"/>
    <p:sldId id="262" r:id="rId21"/>
    <p:sldId id="287" r:id="rId22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24"/>
      <p:bold r:id="rId25"/>
      <p:italic r:id="rId26"/>
      <p:boldItalic r:id="rId27"/>
    </p:embeddedFont>
    <p:embeddedFont>
      <p:font typeface="Oswald" panose="00000500000000000000" pitchFamily="2" charset="0"/>
      <p:regular r:id="rId28"/>
      <p:bold r:id="rId29"/>
    </p:embeddedFont>
    <p:embeddedFont>
      <p:font typeface="Wingdings 3" panose="05040102010807070707" pitchFamily="18" charset="2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8EF23-3934-B8E6-895D-52D7BF25DC8D}" v="1" dt="2025-11-23T16:06:32.606"/>
    <p1510:client id="{B00DF449-15D2-24DB-5912-8E0899903ED8}" v="1" dt="2025-11-23T18:12:35.419"/>
    <p1510:client id="{B8F702FD-79CD-0724-4D08-E250C9A00A32}" v="109" dt="2025-11-23T15:34:23.865"/>
    <p1510:client id="{C49E5460-586B-861B-8D3A-947297D04C94}" v="57" dt="2025-11-22T16:41:07.575"/>
    <p1510:client id="{ECFB3C59-7CBE-37DB-EB00-D86CC238B075}" v="584" dt="2025-11-24T05:50:00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7FF460-EFFA-4FA4-8D41-9CE413055C8A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5135BCA-B833-4813-9F7E-26BA1992E397}">
      <dgm:prSet/>
      <dgm:spPr/>
      <dgm:t>
        <a:bodyPr/>
        <a:lstStyle/>
        <a:p>
          <a:r>
            <a:rPr lang="en-US"/>
            <a:t>Construire un pipeline RAG complet en si peu de temps</a:t>
          </a:r>
        </a:p>
      </dgm:t>
    </dgm:pt>
    <dgm:pt modelId="{5076F341-DB74-4750-9BD4-A1EB04FC8AC0}" type="parTrans" cxnId="{27BE5CA0-FA05-4ADD-8822-757A1C541FA5}">
      <dgm:prSet/>
      <dgm:spPr/>
      <dgm:t>
        <a:bodyPr/>
        <a:lstStyle/>
        <a:p>
          <a:endParaRPr lang="en-US"/>
        </a:p>
      </dgm:t>
    </dgm:pt>
    <dgm:pt modelId="{072EBE75-88E3-4584-82C9-BA108E92740F}" type="sibTrans" cxnId="{27BE5CA0-FA05-4ADD-8822-757A1C541FA5}">
      <dgm:prSet/>
      <dgm:spPr/>
      <dgm:t>
        <a:bodyPr/>
        <a:lstStyle/>
        <a:p>
          <a:endParaRPr lang="en-US"/>
        </a:p>
      </dgm:t>
    </dgm:pt>
    <dgm:pt modelId="{480BC84E-8FDB-45F1-97B9-3E8C3D8BF943}">
      <dgm:prSet/>
      <dgm:spPr/>
      <dgm:t>
        <a:bodyPr/>
        <a:lstStyle/>
        <a:p>
          <a:r>
            <a:rPr lang="en-US"/>
            <a:t>Réussir à faire fonctionner la recherche FAISS et le résumé automatique</a:t>
          </a:r>
        </a:p>
      </dgm:t>
    </dgm:pt>
    <dgm:pt modelId="{F8B5D0B9-E70F-4CA5-8909-8F2B64E41D52}" type="parTrans" cxnId="{C65716A1-FF05-4E02-8367-4E53A6027825}">
      <dgm:prSet/>
      <dgm:spPr/>
      <dgm:t>
        <a:bodyPr/>
        <a:lstStyle/>
        <a:p>
          <a:endParaRPr lang="en-US"/>
        </a:p>
      </dgm:t>
    </dgm:pt>
    <dgm:pt modelId="{5307F2C3-44C7-42EC-A3EC-92F31F884E52}" type="sibTrans" cxnId="{C65716A1-FF05-4E02-8367-4E53A6027825}">
      <dgm:prSet/>
      <dgm:spPr/>
      <dgm:t>
        <a:bodyPr/>
        <a:lstStyle/>
        <a:p>
          <a:endParaRPr lang="en-US"/>
        </a:p>
      </dgm:t>
    </dgm:pt>
    <dgm:pt modelId="{C3BDC7E7-08EF-4674-912B-212B95FFF14B}">
      <dgm:prSet/>
      <dgm:spPr/>
      <dgm:t>
        <a:bodyPr/>
        <a:lstStyle/>
        <a:p>
          <a:r>
            <a:rPr lang="en-US"/>
            <a:t>Transformer des documents bruts en réponses claires et structurées</a:t>
          </a:r>
        </a:p>
      </dgm:t>
    </dgm:pt>
    <dgm:pt modelId="{8183E120-5AA1-4E00-BB16-E5BAC1F36ACF}" type="parTrans" cxnId="{C7A7CD07-C151-4594-BB9F-2F927BF79D1D}">
      <dgm:prSet/>
      <dgm:spPr/>
      <dgm:t>
        <a:bodyPr/>
        <a:lstStyle/>
        <a:p>
          <a:endParaRPr lang="en-US"/>
        </a:p>
      </dgm:t>
    </dgm:pt>
    <dgm:pt modelId="{FB46A6E7-710E-4AB1-A35A-3C6F70173057}" type="sibTrans" cxnId="{C7A7CD07-C151-4594-BB9F-2F927BF79D1D}">
      <dgm:prSet/>
      <dgm:spPr/>
      <dgm:t>
        <a:bodyPr/>
        <a:lstStyle/>
        <a:p>
          <a:endParaRPr lang="en-US"/>
        </a:p>
      </dgm:t>
    </dgm:pt>
    <dgm:pt modelId="{C0CE32CD-1D4A-4FE9-9DF7-F7E08204AC0E}">
      <dgm:prSet/>
      <dgm:spPr/>
      <dgm:t>
        <a:bodyPr/>
        <a:lstStyle/>
        <a:p>
          <a:r>
            <a:rPr lang="en-US"/>
            <a:t>Répartir les tâches et coordinner éfficacement les tâches dans l’équipe</a:t>
          </a:r>
        </a:p>
      </dgm:t>
    </dgm:pt>
    <dgm:pt modelId="{3064AC9C-261B-406C-907C-8CE7EBC8D176}" type="parTrans" cxnId="{994840A2-3A8A-4795-9484-9DF673A1B9E6}">
      <dgm:prSet/>
      <dgm:spPr/>
      <dgm:t>
        <a:bodyPr/>
        <a:lstStyle/>
        <a:p>
          <a:endParaRPr lang="en-US"/>
        </a:p>
      </dgm:t>
    </dgm:pt>
    <dgm:pt modelId="{743A6FF7-B329-4573-AD03-01C3BB461744}" type="sibTrans" cxnId="{994840A2-3A8A-4795-9484-9DF673A1B9E6}">
      <dgm:prSet/>
      <dgm:spPr/>
      <dgm:t>
        <a:bodyPr/>
        <a:lstStyle/>
        <a:p>
          <a:endParaRPr lang="en-US"/>
        </a:p>
      </dgm:t>
    </dgm:pt>
    <dgm:pt modelId="{E6D8D5F3-6F1A-4BFE-8E1E-4A75B8EFB7D7}">
      <dgm:prSet/>
      <dgm:spPr/>
      <dgm:t>
        <a:bodyPr/>
        <a:lstStyle/>
        <a:p>
          <a:r>
            <a:rPr lang="en-US"/>
            <a:t>Surmonter les problèmes techniques (environnement, kernels, formats)</a:t>
          </a:r>
        </a:p>
      </dgm:t>
    </dgm:pt>
    <dgm:pt modelId="{F0836BDF-5925-411A-8F09-B6F214F9D7C6}" type="parTrans" cxnId="{640A60FB-7FA0-48D3-A5B8-ACB1714D6C14}">
      <dgm:prSet/>
      <dgm:spPr/>
      <dgm:t>
        <a:bodyPr/>
        <a:lstStyle/>
        <a:p>
          <a:endParaRPr lang="en-US"/>
        </a:p>
      </dgm:t>
    </dgm:pt>
    <dgm:pt modelId="{7FA62DF2-2394-40B3-925F-DCD96EA04386}" type="sibTrans" cxnId="{640A60FB-7FA0-48D3-A5B8-ACB1714D6C14}">
      <dgm:prSet/>
      <dgm:spPr/>
      <dgm:t>
        <a:bodyPr/>
        <a:lstStyle/>
        <a:p>
          <a:endParaRPr lang="en-US"/>
        </a:p>
      </dgm:t>
    </dgm:pt>
    <dgm:pt modelId="{AFB5E036-385B-42F3-B696-DC29715DC879}">
      <dgm:prSet/>
      <dgm:spPr/>
      <dgm:t>
        <a:bodyPr/>
        <a:lstStyle/>
        <a:p>
          <a:r>
            <a:rPr lang="en-US"/>
            <a:t>Communication et entraide constantes, malgré la pression du hackathon</a:t>
          </a:r>
        </a:p>
      </dgm:t>
    </dgm:pt>
    <dgm:pt modelId="{BFF83ADF-D0DC-4BDD-BCE4-2825D8ABA4AF}" type="parTrans" cxnId="{F3A12B72-1781-48B9-80D3-A8A1EB2DF6EC}">
      <dgm:prSet/>
      <dgm:spPr/>
      <dgm:t>
        <a:bodyPr/>
        <a:lstStyle/>
        <a:p>
          <a:endParaRPr lang="en-US"/>
        </a:p>
      </dgm:t>
    </dgm:pt>
    <dgm:pt modelId="{BB89A6A1-14C9-4B41-9F44-F3592FC62821}" type="sibTrans" cxnId="{F3A12B72-1781-48B9-80D3-A8A1EB2DF6EC}">
      <dgm:prSet/>
      <dgm:spPr/>
      <dgm:t>
        <a:bodyPr/>
        <a:lstStyle/>
        <a:p>
          <a:endParaRPr lang="en-US"/>
        </a:p>
      </dgm:t>
    </dgm:pt>
    <dgm:pt modelId="{8F92E7C6-86BF-4403-8C65-0C5F20BD9D3B}">
      <dgm:prSet/>
      <dgm:spPr/>
      <dgm:t>
        <a:bodyPr/>
        <a:lstStyle/>
        <a:p>
          <a:r>
            <a:rPr lang="en-US"/>
            <a:t>Apprentissage rapide de nouveaux outils (Colab dans VS Code, FAISS, T5-small)</a:t>
          </a:r>
        </a:p>
      </dgm:t>
    </dgm:pt>
    <dgm:pt modelId="{82B147E2-5107-4DB0-9CED-236618BC6604}" type="parTrans" cxnId="{0F4076E0-7006-4371-911D-AC2321A48923}">
      <dgm:prSet/>
      <dgm:spPr/>
      <dgm:t>
        <a:bodyPr/>
        <a:lstStyle/>
        <a:p>
          <a:endParaRPr lang="en-US"/>
        </a:p>
      </dgm:t>
    </dgm:pt>
    <dgm:pt modelId="{71E97594-57D8-4BE6-B307-7E21E12F94EB}" type="sibTrans" cxnId="{0F4076E0-7006-4371-911D-AC2321A48923}">
      <dgm:prSet/>
      <dgm:spPr/>
      <dgm:t>
        <a:bodyPr/>
        <a:lstStyle/>
        <a:p>
          <a:endParaRPr lang="en-US"/>
        </a:p>
      </dgm:t>
    </dgm:pt>
    <dgm:pt modelId="{49356215-DEF0-47C3-A720-F3216AC36537}" type="pres">
      <dgm:prSet presAssocID="{267FF460-EFFA-4FA4-8D41-9CE413055C8A}" presName="vert0" presStyleCnt="0">
        <dgm:presLayoutVars>
          <dgm:dir/>
          <dgm:animOne val="branch"/>
          <dgm:animLvl val="lvl"/>
        </dgm:presLayoutVars>
      </dgm:prSet>
      <dgm:spPr/>
    </dgm:pt>
    <dgm:pt modelId="{4C612E65-9C07-4AE0-B7B1-B99EAFE136D0}" type="pres">
      <dgm:prSet presAssocID="{F5135BCA-B833-4813-9F7E-26BA1992E397}" presName="thickLine" presStyleLbl="alignNode1" presStyleIdx="0" presStyleCnt="7"/>
      <dgm:spPr/>
    </dgm:pt>
    <dgm:pt modelId="{61E946AE-064C-446A-89A4-5DC26250B1BE}" type="pres">
      <dgm:prSet presAssocID="{F5135BCA-B833-4813-9F7E-26BA1992E397}" presName="horz1" presStyleCnt="0"/>
      <dgm:spPr/>
    </dgm:pt>
    <dgm:pt modelId="{BC601B14-BD7B-44E8-8369-2E8A2EFEBBD7}" type="pres">
      <dgm:prSet presAssocID="{F5135BCA-B833-4813-9F7E-26BA1992E397}" presName="tx1" presStyleLbl="revTx" presStyleIdx="0" presStyleCnt="7"/>
      <dgm:spPr/>
    </dgm:pt>
    <dgm:pt modelId="{DECD0533-A241-4677-892F-903D8B7A7C8D}" type="pres">
      <dgm:prSet presAssocID="{F5135BCA-B833-4813-9F7E-26BA1992E397}" presName="vert1" presStyleCnt="0"/>
      <dgm:spPr/>
    </dgm:pt>
    <dgm:pt modelId="{0280CB61-5384-433D-9762-AE783A7104B4}" type="pres">
      <dgm:prSet presAssocID="{480BC84E-8FDB-45F1-97B9-3E8C3D8BF943}" presName="thickLine" presStyleLbl="alignNode1" presStyleIdx="1" presStyleCnt="7"/>
      <dgm:spPr/>
    </dgm:pt>
    <dgm:pt modelId="{F4074172-710D-4630-8731-9688A8EAF7A5}" type="pres">
      <dgm:prSet presAssocID="{480BC84E-8FDB-45F1-97B9-3E8C3D8BF943}" presName="horz1" presStyleCnt="0"/>
      <dgm:spPr/>
    </dgm:pt>
    <dgm:pt modelId="{76F11CE4-DEE5-4723-8642-BEA9DF324838}" type="pres">
      <dgm:prSet presAssocID="{480BC84E-8FDB-45F1-97B9-3E8C3D8BF943}" presName="tx1" presStyleLbl="revTx" presStyleIdx="1" presStyleCnt="7"/>
      <dgm:spPr/>
    </dgm:pt>
    <dgm:pt modelId="{F2CEED62-6C26-4BF4-8E07-AB858488CD45}" type="pres">
      <dgm:prSet presAssocID="{480BC84E-8FDB-45F1-97B9-3E8C3D8BF943}" presName="vert1" presStyleCnt="0"/>
      <dgm:spPr/>
    </dgm:pt>
    <dgm:pt modelId="{E99DC918-E62E-4020-BD89-5DF2CF9CAD79}" type="pres">
      <dgm:prSet presAssocID="{C3BDC7E7-08EF-4674-912B-212B95FFF14B}" presName="thickLine" presStyleLbl="alignNode1" presStyleIdx="2" presStyleCnt="7"/>
      <dgm:spPr/>
    </dgm:pt>
    <dgm:pt modelId="{4D020B44-CCDA-4B71-8713-5B60F2512B89}" type="pres">
      <dgm:prSet presAssocID="{C3BDC7E7-08EF-4674-912B-212B95FFF14B}" presName="horz1" presStyleCnt="0"/>
      <dgm:spPr/>
    </dgm:pt>
    <dgm:pt modelId="{D8EB4378-175C-4E42-AFDE-3EAEC39C21FD}" type="pres">
      <dgm:prSet presAssocID="{C3BDC7E7-08EF-4674-912B-212B95FFF14B}" presName="tx1" presStyleLbl="revTx" presStyleIdx="2" presStyleCnt="7"/>
      <dgm:spPr/>
    </dgm:pt>
    <dgm:pt modelId="{77B4D0A3-B04A-4544-889F-B0E3EF55E7D1}" type="pres">
      <dgm:prSet presAssocID="{C3BDC7E7-08EF-4674-912B-212B95FFF14B}" presName="vert1" presStyleCnt="0"/>
      <dgm:spPr/>
    </dgm:pt>
    <dgm:pt modelId="{AB7AEB7C-7D22-48EE-BBFE-6BE8C3CEB3C2}" type="pres">
      <dgm:prSet presAssocID="{C0CE32CD-1D4A-4FE9-9DF7-F7E08204AC0E}" presName="thickLine" presStyleLbl="alignNode1" presStyleIdx="3" presStyleCnt="7"/>
      <dgm:spPr/>
    </dgm:pt>
    <dgm:pt modelId="{2724295A-9E56-4867-A9A4-E9ED93EFCCDF}" type="pres">
      <dgm:prSet presAssocID="{C0CE32CD-1D4A-4FE9-9DF7-F7E08204AC0E}" presName="horz1" presStyleCnt="0"/>
      <dgm:spPr/>
    </dgm:pt>
    <dgm:pt modelId="{575EB23A-A068-4AE8-9999-37D6E5770E3B}" type="pres">
      <dgm:prSet presAssocID="{C0CE32CD-1D4A-4FE9-9DF7-F7E08204AC0E}" presName="tx1" presStyleLbl="revTx" presStyleIdx="3" presStyleCnt="7"/>
      <dgm:spPr/>
    </dgm:pt>
    <dgm:pt modelId="{78169876-1910-4C5C-9CE1-1650ACCAB3DD}" type="pres">
      <dgm:prSet presAssocID="{C0CE32CD-1D4A-4FE9-9DF7-F7E08204AC0E}" presName="vert1" presStyleCnt="0"/>
      <dgm:spPr/>
    </dgm:pt>
    <dgm:pt modelId="{B2D9C791-770A-4AA2-904D-5160136227FA}" type="pres">
      <dgm:prSet presAssocID="{E6D8D5F3-6F1A-4BFE-8E1E-4A75B8EFB7D7}" presName="thickLine" presStyleLbl="alignNode1" presStyleIdx="4" presStyleCnt="7"/>
      <dgm:spPr/>
    </dgm:pt>
    <dgm:pt modelId="{0607EE7C-4DD6-4EE5-875F-CC64B53FB78A}" type="pres">
      <dgm:prSet presAssocID="{E6D8D5F3-6F1A-4BFE-8E1E-4A75B8EFB7D7}" presName="horz1" presStyleCnt="0"/>
      <dgm:spPr/>
    </dgm:pt>
    <dgm:pt modelId="{7164D8DA-D599-4BE3-9910-00E1F734FE02}" type="pres">
      <dgm:prSet presAssocID="{E6D8D5F3-6F1A-4BFE-8E1E-4A75B8EFB7D7}" presName="tx1" presStyleLbl="revTx" presStyleIdx="4" presStyleCnt="7"/>
      <dgm:spPr/>
    </dgm:pt>
    <dgm:pt modelId="{4B0B31E4-EAAF-46AF-A264-78BD398325F0}" type="pres">
      <dgm:prSet presAssocID="{E6D8D5F3-6F1A-4BFE-8E1E-4A75B8EFB7D7}" presName="vert1" presStyleCnt="0"/>
      <dgm:spPr/>
    </dgm:pt>
    <dgm:pt modelId="{8A75A2D1-E47C-4670-9A88-579F5C5F8ACD}" type="pres">
      <dgm:prSet presAssocID="{AFB5E036-385B-42F3-B696-DC29715DC879}" presName="thickLine" presStyleLbl="alignNode1" presStyleIdx="5" presStyleCnt="7"/>
      <dgm:spPr/>
    </dgm:pt>
    <dgm:pt modelId="{7D8066B1-DDFF-4AC2-99AE-C93673430183}" type="pres">
      <dgm:prSet presAssocID="{AFB5E036-385B-42F3-B696-DC29715DC879}" presName="horz1" presStyleCnt="0"/>
      <dgm:spPr/>
    </dgm:pt>
    <dgm:pt modelId="{6CFD1CCD-329D-474A-B1A8-D3CCB4C15F6B}" type="pres">
      <dgm:prSet presAssocID="{AFB5E036-385B-42F3-B696-DC29715DC879}" presName="tx1" presStyleLbl="revTx" presStyleIdx="5" presStyleCnt="7"/>
      <dgm:spPr/>
    </dgm:pt>
    <dgm:pt modelId="{F7B4EE40-6317-40A9-A4BB-8540462174AD}" type="pres">
      <dgm:prSet presAssocID="{AFB5E036-385B-42F3-B696-DC29715DC879}" presName="vert1" presStyleCnt="0"/>
      <dgm:spPr/>
    </dgm:pt>
    <dgm:pt modelId="{D91B2FEF-436B-41C7-A0CF-C52D2ABF4D55}" type="pres">
      <dgm:prSet presAssocID="{8F92E7C6-86BF-4403-8C65-0C5F20BD9D3B}" presName="thickLine" presStyleLbl="alignNode1" presStyleIdx="6" presStyleCnt="7"/>
      <dgm:spPr/>
    </dgm:pt>
    <dgm:pt modelId="{68DD93B3-6AC0-42BA-AF8B-0B5F2AB5E821}" type="pres">
      <dgm:prSet presAssocID="{8F92E7C6-86BF-4403-8C65-0C5F20BD9D3B}" presName="horz1" presStyleCnt="0"/>
      <dgm:spPr/>
    </dgm:pt>
    <dgm:pt modelId="{9ECEE5F5-4603-48FF-BD23-A7E03B5DA44D}" type="pres">
      <dgm:prSet presAssocID="{8F92E7C6-86BF-4403-8C65-0C5F20BD9D3B}" presName="tx1" presStyleLbl="revTx" presStyleIdx="6" presStyleCnt="7"/>
      <dgm:spPr/>
    </dgm:pt>
    <dgm:pt modelId="{872D2EC5-620E-419F-915B-A37C175327FF}" type="pres">
      <dgm:prSet presAssocID="{8F92E7C6-86BF-4403-8C65-0C5F20BD9D3B}" presName="vert1" presStyleCnt="0"/>
      <dgm:spPr/>
    </dgm:pt>
  </dgm:ptLst>
  <dgm:cxnLst>
    <dgm:cxn modelId="{C7A7CD07-C151-4594-BB9F-2F927BF79D1D}" srcId="{267FF460-EFFA-4FA4-8D41-9CE413055C8A}" destId="{C3BDC7E7-08EF-4674-912B-212B95FFF14B}" srcOrd="2" destOrd="0" parTransId="{8183E120-5AA1-4E00-BB16-E5BAC1F36ACF}" sibTransId="{FB46A6E7-710E-4AB1-A35A-3C6F70173057}"/>
    <dgm:cxn modelId="{EB327B1F-E2A8-44DC-99ED-7F48CE7981BF}" type="presOf" srcId="{267FF460-EFFA-4FA4-8D41-9CE413055C8A}" destId="{49356215-DEF0-47C3-A720-F3216AC36537}" srcOrd="0" destOrd="0" presId="urn:microsoft.com/office/officeart/2008/layout/LinedList"/>
    <dgm:cxn modelId="{CA6F0E48-6A6A-42A7-8575-C7750BEA24F2}" type="presOf" srcId="{C3BDC7E7-08EF-4674-912B-212B95FFF14B}" destId="{D8EB4378-175C-4E42-AFDE-3EAEC39C21FD}" srcOrd="0" destOrd="0" presId="urn:microsoft.com/office/officeart/2008/layout/LinedList"/>
    <dgm:cxn modelId="{ED0D3871-B60A-4496-8C2D-D235931716E7}" type="presOf" srcId="{C0CE32CD-1D4A-4FE9-9DF7-F7E08204AC0E}" destId="{575EB23A-A068-4AE8-9999-37D6E5770E3B}" srcOrd="0" destOrd="0" presId="urn:microsoft.com/office/officeart/2008/layout/LinedList"/>
    <dgm:cxn modelId="{F3A12B72-1781-48B9-80D3-A8A1EB2DF6EC}" srcId="{267FF460-EFFA-4FA4-8D41-9CE413055C8A}" destId="{AFB5E036-385B-42F3-B696-DC29715DC879}" srcOrd="5" destOrd="0" parTransId="{BFF83ADF-D0DC-4BDD-BCE4-2825D8ABA4AF}" sibTransId="{BB89A6A1-14C9-4B41-9F44-F3592FC62821}"/>
    <dgm:cxn modelId="{27B05976-04C7-422D-B936-253B504AD154}" type="presOf" srcId="{480BC84E-8FDB-45F1-97B9-3E8C3D8BF943}" destId="{76F11CE4-DEE5-4723-8642-BEA9DF324838}" srcOrd="0" destOrd="0" presId="urn:microsoft.com/office/officeart/2008/layout/LinedList"/>
    <dgm:cxn modelId="{F35D9576-DD2B-4CCA-8F70-2844D2AFF0D1}" type="presOf" srcId="{8F92E7C6-86BF-4403-8C65-0C5F20BD9D3B}" destId="{9ECEE5F5-4603-48FF-BD23-A7E03B5DA44D}" srcOrd="0" destOrd="0" presId="urn:microsoft.com/office/officeart/2008/layout/LinedList"/>
    <dgm:cxn modelId="{83AD2481-87C3-42ED-B204-82D58CB8054B}" type="presOf" srcId="{F5135BCA-B833-4813-9F7E-26BA1992E397}" destId="{BC601B14-BD7B-44E8-8369-2E8A2EFEBBD7}" srcOrd="0" destOrd="0" presId="urn:microsoft.com/office/officeart/2008/layout/LinedList"/>
    <dgm:cxn modelId="{94DF6990-12F0-43D2-B936-9EBEE9B8906D}" type="presOf" srcId="{E6D8D5F3-6F1A-4BFE-8E1E-4A75B8EFB7D7}" destId="{7164D8DA-D599-4BE3-9910-00E1F734FE02}" srcOrd="0" destOrd="0" presId="urn:microsoft.com/office/officeart/2008/layout/LinedList"/>
    <dgm:cxn modelId="{27BE5CA0-FA05-4ADD-8822-757A1C541FA5}" srcId="{267FF460-EFFA-4FA4-8D41-9CE413055C8A}" destId="{F5135BCA-B833-4813-9F7E-26BA1992E397}" srcOrd="0" destOrd="0" parTransId="{5076F341-DB74-4750-9BD4-A1EB04FC8AC0}" sibTransId="{072EBE75-88E3-4584-82C9-BA108E92740F}"/>
    <dgm:cxn modelId="{C65716A1-FF05-4E02-8367-4E53A6027825}" srcId="{267FF460-EFFA-4FA4-8D41-9CE413055C8A}" destId="{480BC84E-8FDB-45F1-97B9-3E8C3D8BF943}" srcOrd="1" destOrd="0" parTransId="{F8B5D0B9-E70F-4CA5-8909-8F2B64E41D52}" sibTransId="{5307F2C3-44C7-42EC-A3EC-92F31F884E52}"/>
    <dgm:cxn modelId="{994840A2-3A8A-4795-9484-9DF673A1B9E6}" srcId="{267FF460-EFFA-4FA4-8D41-9CE413055C8A}" destId="{C0CE32CD-1D4A-4FE9-9DF7-F7E08204AC0E}" srcOrd="3" destOrd="0" parTransId="{3064AC9C-261B-406C-907C-8CE7EBC8D176}" sibTransId="{743A6FF7-B329-4573-AD03-01C3BB461744}"/>
    <dgm:cxn modelId="{4BFC5ED7-0370-45C6-9BA5-2B5757C2E59A}" type="presOf" srcId="{AFB5E036-385B-42F3-B696-DC29715DC879}" destId="{6CFD1CCD-329D-474A-B1A8-D3CCB4C15F6B}" srcOrd="0" destOrd="0" presId="urn:microsoft.com/office/officeart/2008/layout/LinedList"/>
    <dgm:cxn modelId="{0F4076E0-7006-4371-911D-AC2321A48923}" srcId="{267FF460-EFFA-4FA4-8D41-9CE413055C8A}" destId="{8F92E7C6-86BF-4403-8C65-0C5F20BD9D3B}" srcOrd="6" destOrd="0" parTransId="{82B147E2-5107-4DB0-9CED-236618BC6604}" sibTransId="{71E97594-57D8-4BE6-B307-7E21E12F94EB}"/>
    <dgm:cxn modelId="{640A60FB-7FA0-48D3-A5B8-ACB1714D6C14}" srcId="{267FF460-EFFA-4FA4-8D41-9CE413055C8A}" destId="{E6D8D5F3-6F1A-4BFE-8E1E-4A75B8EFB7D7}" srcOrd="4" destOrd="0" parTransId="{F0836BDF-5925-411A-8F09-B6F214F9D7C6}" sibTransId="{7FA62DF2-2394-40B3-925F-DCD96EA04386}"/>
    <dgm:cxn modelId="{D3F91C01-D830-4A79-B126-43C01DFA793D}" type="presParOf" srcId="{49356215-DEF0-47C3-A720-F3216AC36537}" destId="{4C612E65-9C07-4AE0-B7B1-B99EAFE136D0}" srcOrd="0" destOrd="0" presId="urn:microsoft.com/office/officeart/2008/layout/LinedList"/>
    <dgm:cxn modelId="{A20DFFE6-5066-45EA-9587-E68BC3A9BFEF}" type="presParOf" srcId="{49356215-DEF0-47C3-A720-F3216AC36537}" destId="{61E946AE-064C-446A-89A4-5DC26250B1BE}" srcOrd="1" destOrd="0" presId="urn:microsoft.com/office/officeart/2008/layout/LinedList"/>
    <dgm:cxn modelId="{D7A51296-B46B-4DA7-BDCC-11E518739684}" type="presParOf" srcId="{61E946AE-064C-446A-89A4-5DC26250B1BE}" destId="{BC601B14-BD7B-44E8-8369-2E8A2EFEBBD7}" srcOrd="0" destOrd="0" presId="urn:microsoft.com/office/officeart/2008/layout/LinedList"/>
    <dgm:cxn modelId="{75A8F07F-A7B4-4387-A40E-00A9790C96AD}" type="presParOf" srcId="{61E946AE-064C-446A-89A4-5DC26250B1BE}" destId="{DECD0533-A241-4677-892F-903D8B7A7C8D}" srcOrd="1" destOrd="0" presId="urn:microsoft.com/office/officeart/2008/layout/LinedList"/>
    <dgm:cxn modelId="{3B4D41E5-78DD-453A-8E37-70E3D831B62A}" type="presParOf" srcId="{49356215-DEF0-47C3-A720-F3216AC36537}" destId="{0280CB61-5384-433D-9762-AE783A7104B4}" srcOrd="2" destOrd="0" presId="urn:microsoft.com/office/officeart/2008/layout/LinedList"/>
    <dgm:cxn modelId="{82F5AF86-4DAB-4FAC-985C-3D02BECE6FB2}" type="presParOf" srcId="{49356215-DEF0-47C3-A720-F3216AC36537}" destId="{F4074172-710D-4630-8731-9688A8EAF7A5}" srcOrd="3" destOrd="0" presId="urn:microsoft.com/office/officeart/2008/layout/LinedList"/>
    <dgm:cxn modelId="{A3E75B06-C090-479D-A1B7-1D8C16F8250D}" type="presParOf" srcId="{F4074172-710D-4630-8731-9688A8EAF7A5}" destId="{76F11CE4-DEE5-4723-8642-BEA9DF324838}" srcOrd="0" destOrd="0" presId="urn:microsoft.com/office/officeart/2008/layout/LinedList"/>
    <dgm:cxn modelId="{687358EA-3715-4AF5-84DF-58D022FCBBF4}" type="presParOf" srcId="{F4074172-710D-4630-8731-9688A8EAF7A5}" destId="{F2CEED62-6C26-4BF4-8E07-AB858488CD45}" srcOrd="1" destOrd="0" presId="urn:microsoft.com/office/officeart/2008/layout/LinedList"/>
    <dgm:cxn modelId="{0BEE8621-4D4A-46A5-B897-82A290731BFC}" type="presParOf" srcId="{49356215-DEF0-47C3-A720-F3216AC36537}" destId="{E99DC918-E62E-4020-BD89-5DF2CF9CAD79}" srcOrd="4" destOrd="0" presId="urn:microsoft.com/office/officeart/2008/layout/LinedList"/>
    <dgm:cxn modelId="{5EBEE347-2B24-4A3E-BC99-3FBBF6ADCB59}" type="presParOf" srcId="{49356215-DEF0-47C3-A720-F3216AC36537}" destId="{4D020B44-CCDA-4B71-8713-5B60F2512B89}" srcOrd="5" destOrd="0" presId="urn:microsoft.com/office/officeart/2008/layout/LinedList"/>
    <dgm:cxn modelId="{3B80D453-0797-467C-A47B-C7236B696983}" type="presParOf" srcId="{4D020B44-CCDA-4B71-8713-5B60F2512B89}" destId="{D8EB4378-175C-4E42-AFDE-3EAEC39C21FD}" srcOrd="0" destOrd="0" presId="urn:microsoft.com/office/officeart/2008/layout/LinedList"/>
    <dgm:cxn modelId="{BD84CAC7-B71A-4B8B-BB3C-C562FE69D4AD}" type="presParOf" srcId="{4D020B44-CCDA-4B71-8713-5B60F2512B89}" destId="{77B4D0A3-B04A-4544-889F-B0E3EF55E7D1}" srcOrd="1" destOrd="0" presId="urn:microsoft.com/office/officeart/2008/layout/LinedList"/>
    <dgm:cxn modelId="{AD41FCAD-3A43-494C-89DC-DB4A660B1760}" type="presParOf" srcId="{49356215-DEF0-47C3-A720-F3216AC36537}" destId="{AB7AEB7C-7D22-48EE-BBFE-6BE8C3CEB3C2}" srcOrd="6" destOrd="0" presId="urn:microsoft.com/office/officeart/2008/layout/LinedList"/>
    <dgm:cxn modelId="{1456BF9F-0513-4B88-AD95-128F46F457ED}" type="presParOf" srcId="{49356215-DEF0-47C3-A720-F3216AC36537}" destId="{2724295A-9E56-4867-A9A4-E9ED93EFCCDF}" srcOrd="7" destOrd="0" presId="urn:microsoft.com/office/officeart/2008/layout/LinedList"/>
    <dgm:cxn modelId="{A82B807C-8A0F-41C5-B404-AA23E3294FF6}" type="presParOf" srcId="{2724295A-9E56-4867-A9A4-E9ED93EFCCDF}" destId="{575EB23A-A068-4AE8-9999-37D6E5770E3B}" srcOrd="0" destOrd="0" presId="urn:microsoft.com/office/officeart/2008/layout/LinedList"/>
    <dgm:cxn modelId="{862DF386-FD61-4628-BDC4-46B9B60B827B}" type="presParOf" srcId="{2724295A-9E56-4867-A9A4-E9ED93EFCCDF}" destId="{78169876-1910-4C5C-9CE1-1650ACCAB3DD}" srcOrd="1" destOrd="0" presId="urn:microsoft.com/office/officeart/2008/layout/LinedList"/>
    <dgm:cxn modelId="{219EC966-F5C6-4DF5-90AA-67D318138E13}" type="presParOf" srcId="{49356215-DEF0-47C3-A720-F3216AC36537}" destId="{B2D9C791-770A-4AA2-904D-5160136227FA}" srcOrd="8" destOrd="0" presId="urn:microsoft.com/office/officeart/2008/layout/LinedList"/>
    <dgm:cxn modelId="{9687804F-6E88-4D9E-BF35-4CA19840B8FE}" type="presParOf" srcId="{49356215-DEF0-47C3-A720-F3216AC36537}" destId="{0607EE7C-4DD6-4EE5-875F-CC64B53FB78A}" srcOrd="9" destOrd="0" presId="urn:microsoft.com/office/officeart/2008/layout/LinedList"/>
    <dgm:cxn modelId="{2E180022-F13E-4DFC-A563-37A7E02F8315}" type="presParOf" srcId="{0607EE7C-4DD6-4EE5-875F-CC64B53FB78A}" destId="{7164D8DA-D599-4BE3-9910-00E1F734FE02}" srcOrd="0" destOrd="0" presId="urn:microsoft.com/office/officeart/2008/layout/LinedList"/>
    <dgm:cxn modelId="{E48A1CB3-E967-41A1-92C3-F922DA330773}" type="presParOf" srcId="{0607EE7C-4DD6-4EE5-875F-CC64B53FB78A}" destId="{4B0B31E4-EAAF-46AF-A264-78BD398325F0}" srcOrd="1" destOrd="0" presId="urn:microsoft.com/office/officeart/2008/layout/LinedList"/>
    <dgm:cxn modelId="{1F742200-B399-408B-85F8-DDBC5B4E8C2D}" type="presParOf" srcId="{49356215-DEF0-47C3-A720-F3216AC36537}" destId="{8A75A2D1-E47C-4670-9A88-579F5C5F8ACD}" srcOrd="10" destOrd="0" presId="urn:microsoft.com/office/officeart/2008/layout/LinedList"/>
    <dgm:cxn modelId="{5FC94690-C2F3-448A-A101-73EDD61BE5EE}" type="presParOf" srcId="{49356215-DEF0-47C3-A720-F3216AC36537}" destId="{7D8066B1-DDFF-4AC2-99AE-C93673430183}" srcOrd="11" destOrd="0" presId="urn:microsoft.com/office/officeart/2008/layout/LinedList"/>
    <dgm:cxn modelId="{F345B1D1-7995-49AA-913E-BFD9853C9167}" type="presParOf" srcId="{7D8066B1-DDFF-4AC2-99AE-C93673430183}" destId="{6CFD1CCD-329D-474A-B1A8-D3CCB4C15F6B}" srcOrd="0" destOrd="0" presId="urn:microsoft.com/office/officeart/2008/layout/LinedList"/>
    <dgm:cxn modelId="{39ABCB50-AE54-4765-AF2B-9D9684365D6D}" type="presParOf" srcId="{7D8066B1-DDFF-4AC2-99AE-C93673430183}" destId="{F7B4EE40-6317-40A9-A4BB-8540462174AD}" srcOrd="1" destOrd="0" presId="urn:microsoft.com/office/officeart/2008/layout/LinedList"/>
    <dgm:cxn modelId="{8E63A083-1AB7-4817-ADC6-C7B71992EA09}" type="presParOf" srcId="{49356215-DEF0-47C3-A720-F3216AC36537}" destId="{D91B2FEF-436B-41C7-A0CF-C52D2ABF4D55}" srcOrd="12" destOrd="0" presId="urn:microsoft.com/office/officeart/2008/layout/LinedList"/>
    <dgm:cxn modelId="{63AAF748-BDC2-4B0E-8E7C-29E6F116202F}" type="presParOf" srcId="{49356215-DEF0-47C3-A720-F3216AC36537}" destId="{68DD93B3-6AC0-42BA-AF8B-0B5F2AB5E821}" srcOrd="13" destOrd="0" presId="urn:microsoft.com/office/officeart/2008/layout/LinedList"/>
    <dgm:cxn modelId="{32B8A0D2-1BB6-4422-A4E3-220DCC77FE45}" type="presParOf" srcId="{68DD93B3-6AC0-42BA-AF8B-0B5F2AB5E821}" destId="{9ECEE5F5-4603-48FF-BD23-A7E03B5DA44D}" srcOrd="0" destOrd="0" presId="urn:microsoft.com/office/officeart/2008/layout/LinedList"/>
    <dgm:cxn modelId="{5322956A-9E44-4D0D-8809-CC952B797718}" type="presParOf" srcId="{68DD93B3-6AC0-42BA-AF8B-0B5F2AB5E821}" destId="{872D2EC5-620E-419F-915B-A37C175327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12E65-9C07-4AE0-B7B1-B99EAFE136D0}">
      <dsp:nvSpPr>
        <dsp:cNvPr id="0" name=""/>
        <dsp:cNvSpPr/>
      </dsp:nvSpPr>
      <dsp:spPr>
        <a:xfrm>
          <a:off x="0" y="418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601B14-BD7B-44E8-8369-2E8A2EFEBBD7}">
      <dsp:nvSpPr>
        <dsp:cNvPr id="0" name=""/>
        <dsp:cNvSpPr/>
      </dsp:nvSpPr>
      <dsp:spPr>
        <a:xfrm>
          <a:off x="0" y="418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Construire un pipeline RAG complet en si peu de temps</a:t>
          </a:r>
        </a:p>
      </dsp:txBody>
      <dsp:txXfrm>
        <a:off x="0" y="418"/>
        <a:ext cx="4872038" cy="489737"/>
      </dsp:txXfrm>
    </dsp:sp>
    <dsp:sp modelId="{0280CB61-5384-433D-9762-AE783A7104B4}">
      <dsp:nvSpPr>
        <dsp:cNvPr id="0" name=""/>
        <dsp:cNvSpPr/>
      </dsp:nvSpPr>
      <dsp:spPr>
        <a:xfrm>
          <a:off x="0" y="490156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1039540"/>
                <a:satOff val="-669"/>
                <a:lumOff val="457"/>
                <a:alphaOff val="0"/>
                <a:tint val="98000"/>
                <a:lumMod val="114000"/>
              </a:schemeClr>
            </a:gs>
            <a:gs pos="100000">
              <a:schemeClr val="accent5">
                <a:hueOff val="1039540"/>
                <a:satOff val="-669"/>
                <a:lumOff val="457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1039540"/>
              <a:satOff val="-669"/>
              <a:lumOff val="45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F11CE4-DEE5-4723-8642-BEA9DF324838}">
      <dsp:nvSpPr>
        <dsp:cNvPr id="0" name=""/>
        <dsp:cNvSpPr/>
      </dsp:nvSpPr>
      <dsp:spPr>
        <a:xfrm>
          <a:off x="0" y="490156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Réussir à faire fonctionner la recherche FAISS et le résumé automatique</a:t>
          </a:r>
        </a:p>
      </dsp:txBody>
      <dsp:txXfrm>
        <a:off x="0" y="490156"/>
        <a:ext cx="4872038" cy="489737"/>
      </dsp:txXfrm>
    </dsp:sp>
    <dsp:sp modelId="{E99DC918-E62E-4020-BD89-5DF2CF9CAD79}">
      <dsp:nvSpPr>
        <dsp:cNvPr id="0" name=""/>
        <dsp:cNvSpPr/>
      </dsp:nvSpPr>
      <dsp:spPr>
        <a:xfrm>
          <a:off x="0" y="979893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2079079"/>
                <a:satOff val="-1338"/>
                <a:lumOff val="915"/>
                <a:alphaOff val="0"/>
                <a:tint val="98000"/>
                <a:lumMod val="114000"/>
              </a:schemeClr>
            </a:gs>
            <a:gs pos="100000">
              <a:schemeClr val="accent5">
                <a:hueOff val="2079079"/>
                <a:satOff val="-1338"/>
                <a:lumOff val="915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2079079"/>
              <a:satOff val="-1338"/>
              <a:lumOff val="91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EB4378-175C-4E42-AFDE-3EAEC39C21FD}">
      <dsp:nvSpPr>
        <dsp:cNvPr id="0" name=""/>
        <dsp:cNvSpPr/>
      </dsp:nvSpPr>
      <dsp:spPr>
        <a:xfrm>
          <a:off x="0" y="979893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Transformer des documents bruts en réponses claires et structurées</a:t>
          </a:r>
        </a:p>
      </dsp:txBody>
      <dsp:txXfrm>
        <a:off x="0" y="979893"/>
        <a:ext cx="4872038" cy="489737"/>
      </dsp:txXfrm>
    </dsp:sp>
    <dsp:sp modelId="{AB7AEB7C-7D22-48EE-BBFE-6BE8C3CEB3C2}">
      <dsp:nvSpPr>
        <dsp:cNvPr id="0" name=""/>
        <dsp:cNvSpPr/>
      </dsp:nvSpPr>
      <dsp:spPr>
        <a:xfrm>
          <a:off x="0" y="1469631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3118619"/>
                <a:satOff val="-2006"/>
                <a:lumOff val="1372"/>
                <a:alphaOff val="0"/>
                <a:tint val="98000"/>
                <a:lumMod val="114000"/>
              </a:schemeClr>
            </a:gs>
            <a:gs pos="100000">
              <a:schemeClr val="accent5">
                <a:hueOff val="3118619"/>
                <a:satOff val="-2006"/>
                <a:lumOff val="1372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5EB23A-A068-4AE8-9999-37D6E5770E3B}">
      <dsp:nvSpPr>
        <dsp:cNvPr id="0" name=""/>
        <dsp:cNvSpPr/>
      </dsp:nvSpPr>
      <dsp:spPr>
        <a:xfrm>
          <a:off x="0" y="1469631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Répartir les tâches et coordinner éfficacement les tâches dans l’équipe</a:t>
          </a:r>
        </a:p>
      </dsp:txBody>
      <dsp:txXfrm>
        <a:off x="0" y="1469631"/>
        <a:ext cx="4872038" cy="489737"/>
      </dsp:txXfrm>
    </dsp:sp>
    <dsp:sp modelId="{B2D9C791-770A-4AA2-904D-5160136227FA}">
      <dsp:nvSpPr>
        <dsp:cNvPr id="0" name=""/>
        <dsp:cNvSpPr/>
      </dsp:nvSpPr>
      <dsp:spPr>
        <a:xfrm>
          <a:off x="0" y="1959368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4158159"/>
                <a:satOff val="-2675"/>
                <a:lumOff val="1829"/>
                <a:alphaOff val="0"/>
                <a:tint val="98000"/>
                <a:lumMod val="114000"/>
              </a:schemeClr>
            </a:gs>
            <a:gs pos="100000">
              <a:schemeClr val="accent5">
                <a:hueOff val="4158159"/>
                <a:satOff val="-2675"/>
                <a:lumOff val="1829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4158159"/>
              <a:satOff val="-2675"/>
              <a:lumOff val="182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64D8DA-D599-4BE3-9910-00E1F734FE02}">
      <dsp:nvSpPr>
        <dsp:cNvPr id="0" name=""/>
        <dsp:cNvSpPr/>
      </dsp:nvSpPr>
      <dsp:spPr>
        <a:xfrm>
          <a:off x="0" y="1959368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Surmonter les problèmes techniques (environnement, kernels, formats)</a:t>
          </a:r>
        </a:p>
      </dsp:txBody>
      <dsp:txXfrm>
        <a:off x="0" y="1959368"/>
        <a:ext cx="4872038" cy="489737"/>
      </dsp:txXfrm>
    </dsp:sp>
    <dsp:sp modelId="{8A75A2D1-E47C-4670-9A88-579F5C5F8ACD}">
      <dsp:nvSpPr>
        <dsp:cNvPr id="0" name=""/>
        <dsp:cNvSpPr/>
      </dsp:nvSpPr>
      <dsp:spPr>
        <a:xfrm>
          <a:off x="0" y="2449106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5197698"/>
                <a:satOff val="-3344"/>
                <a:lumOff val="2287"/>
                <a:alphaOff val="0"/>
                <a:tint val="98000"/>
                <a:lumMod val="114000"/>
              </a:schemeClr>
            </a:gs>
            <a:gs pos="100000">
              <a:schemeClr val="accent5">
                <a:hueOff val="5197698"/>
                <a:satOff val="-3344"/>
                <a:lumOff val="2287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5197698"/>
              <a:satOff val="-3344"/>
              <a:lumOff val="228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FD1CCD-329D-474A-B1A8-D3CCB4C15F6B}">
      <dsp:nvSpPr>
        <dsp:cNvPr id="0" name=""/>
        <dsp:cNvSpPr/>
      </dsp:nvSpPr>
      <dsp:spPr>
        <a:xfrm>
          <a:off x="0" y="2449106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Communication et entraide constantes, malgré la pression du hackathon</a:t>
          </a:r>
        </a:p>
      </dsp:txBody>
      <dsp:txXfrm>
        <a:off x="0" y="2449106"/>
        <a:ext cx="4872038" cy="489737"/>
      </dsp:txXfrm>
    </dsp:sp>
    <dsp:sp modelId="{D91B2FEF-436B-41C7-A0CF-C52D2ABF4D55}">
      <dsp:nvSpPr>
        <dsp:cNvPr id="0" name=""/>
        <dsp:cNvSpPr/>
      </dsp:nvSpPr>
      <dsp:spPr>
        <a:xfrm>
          <a:off x="0" y="2938843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6237238"/>
                <a:satOff val="-4013"/>
                <a:lumOff val="2744"/>
                <a:alphaOff val="0"/>
                <a:tint val="98000"/>
                <a:lumMod val="114000"/>
              </a:schemeClr>
            </a:gs>
            <a:gs pos="100000">
              <a:schemeClr val="accent5">
                <a:hueOff val="6237238"/>
                <a:satOff val="-4013"/>
                <a:lumOff val="2744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CEE5F5-4603-48FF-BD23-A7E03B5DA44D}">
      <dsp:nvSpPr>
        <dsp:cNvPr id="0" name=""/>
        <dsp:cNvSpPr/>
      </dsp:nvSpPr>
      <dsp:spPr>
        <a:xfrm>
          <a:off x="0" y="2938843"/>
          <a:ext cx="4872038" cy="48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Apprentissage rapide de nouveaux outils (Colab dans VS Code, FAISS, T5-small)</a:t>
          </a:r>
        </a:p>
      </dsp:txBody>
      <dsp:txXfrm>
        <a:off x="0" y="2938843"/>
        <a:ext cx="4872038" cy="489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E963FCC-1703-9A0B-B95A-B40B8342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>
            <a:extLst>
              <a:ext uri="{FF2B5EF4-FFF2-40B4-BE49-F238E27FC236}">
                <a16:creationId xmlns:a16="http://schemas.microsoft.com/office/drawing/2014/main" id="{859A4151-34C2-0648-37C8-0D2404392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>
            <a:extLst>
              <a:ext uri="{FF2B5EF4-FFF2-40B4-BE49-F238E27FC236}">
                <a16:creationId xmlns:a16="http://schemas.microsoft.com/office/drawing/2014/main" id="{F89BE758-5658-D172-9D89-60B0364CF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64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67181DD8-29B9-F7AE-AF60-2DCE7768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>
            <a:extLst>
              <a:ext uri="{FF2B5EF4-FFF2-40B4-BE49-F238E27FC236}">
                <a16:creationId xmlns:a16="http://schemas.microsoft.com/office/drawing/2014/main" id="{3426DF89-BC0A-AF6A-D87B-AC2C11124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>
            <a:extLst>
              <a:ext uri="{FF2B5EF4-FFF2-40B4-BE49-F238E27FC236}">
                <a16:creationId xmlns:a16="http://schemas.microsoft.com/office/drawing/2014/main" id="{707EB0DE-B59F-B750-4C49-1A4329552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81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1B5FEB-6453-CEFE-C795-3F0B9E57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>
            <a:extLst>
              <a:ext uri="{FF2B5EF4-FFF2-40B4-BE49-F238E27FC236}">
                <a16:creationId xmlns:a16="http://schemas.microsoft.com/office/drawing/2014/main" id="{57AEBDE3-16B2-A275-11A7-8AEBFE825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>
            <a:extLst>
              <a:ext uri="{FF2B5EF4-FFF2-40B4-BE49-F238E27FC236}">
                <a16:creationId xmlns:a16="http://schemas.microsoft.com/office/drawing/2014/main" id="{42A908E6-9A52-383D-28E0-4C73F1A78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538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7A0105C-835A-4813-09DF-9CC409B5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>
            <a:extLst>
              <a:ext uri="{FF2B5EF4-FFF2-40B4-BE49-F238E27FC236}">
                <a16:creationId xmlns:a16="http://schemas.microsoft.com/office/drawing/2014/main" id="{E33158CE-8C33-9745-A69A-331740CB4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>
            <a:extLst>
              <a:ext uri="{FF2B5EF4-FFF2-40B4-BE49-F238E27FC236}">
                <a16:creationId xmlns:a16="http://schemas.microsoft.com/office/drawing/2014/main" id="{E7876FEF-3B09-E4D5-31A7-1E6632F12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706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F0DEBF1-77A1-1A6B-FEC1-57A6F7D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>
            <a:extLst>
              <a:ext uri="{FF2B5EF4-FFF2-40B4-BE49-F238E27FC236}">
                <a16:creationId xmlns:a16="http://schemas.microsoft.com/office/drawing/2014/main" id="{6DB87A0F-D171-D669-4D24-41113582F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>
            <a:extLst>
              <a:ext uri="{FF2B5EF4-FFF2-40B4-BE49-F238E27FC236}">
                <a16:creationId xmlns:a16="http://schemas.microsoft.com/office/drawing/2014/main" id="{ECBD34B9-6596-A756-C52F-FA6DFBBF0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2272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B5CD71B-5C58-62B0-7847-42941724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>
            <a:extLst>
              <a:ext uri="{FF2B5EF4-FFF2-40B4-BE49-F238E27FC236}">
                <a16:creationId xmlns:a16="http://schemas.microsoft.com/office/drawing/2014/main" id="{D1D73312-0733-0FDB-2615-F325E65DA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>
            <a:extLst>
              <a:ext uri="{FF2B5EF4-FFF2-40B4-BE49-F238E27FC236}">
                <a16:creationId xmlns:a16="http://schemas.microsoft.com/office/drawing/2014/main" id="{3D682BCF-810B-B595-18FE-D142F3960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198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5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1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0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4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5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4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46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343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9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0"/>
            <a:ext cx="601434" cy="343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9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129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0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92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98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72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04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860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606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1_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968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95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95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41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lk6992/HACKATHON-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loom.com/share/4f35f8a7e97b45e28a883d3857b751f0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2400">
                <a:solidFill>
                  <a:schemeClr val="tx2">
                    <a:lumMod val="20000"/>
                    <a:lumOff val="8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endParaRPr lang="fr-FR" sz="2500">
              <a:solidFill>
                <a:schemeClr val="tx2">
                  <a:lumMod val="20000"/>
                  <a:lumOff val="80000"/>
                </a:schemeClr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endParaRPr lang="en" sz="2400">
              <a:solidFill>
                <a:schemeClr val="tx2">
                  <a:lumMod val="20000"/>
                  <a:lumOff val="80000"/>
                </a:schemeClr>
              </a:solidFill>
              <a:latin typeface="Oswald"/>
              <a:ea typeface="Oswald"/>
              <a:cs typeface="Oswald"/>
            </a:endParaRPr>
          </a:p>
          <a:p>
            <a:pPr algn="ctr"/>
            <a:endParaRPr lang="en" sz="2400">
              <a:solidFill>
                <a:schemeClr val="tx2">
                  <a:lumMod val="20000"/>
                  <a:lumOff val="80000"/>
                </a:schemeClr>
              </a:solidFill>
              <a:latin typeface="Oswald"/>
              <a:ea typeface="Oswald"/>
              <a:cs typeface="Oswald"/>
            </a:endParaRPr>
          </a:p>
          <a:p>
            <a:pPr algn="ctr"/>
            <a:endParaRPr lang="en" sz="2400">
              <a:solidFill>
                <a:schemeClr val="tx2">
                  <a:lumMod val="20000"/>
                  <a:lumOff val="80000"/>
                </a:schemeClr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endParaRPr lang="en" sz="2400">
              <a:solidFill>
                <a:schemeClr val="tx2">
                  <a:lumMod val="20000"/>
                  <a:lumOff val="80000"/>
                </a:schemeClr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r>
              <a:rPr lang="en" sz="2400">
                <a:solidFill>
                  <a:schemeClr val="tx2">
                    <a:lumMod val="20000"/>
                    <a:lumOff val="8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 </a:t>
            </a:r>
            <a:r>
              <a:rPr lang="en" sz="2400" b="1">
                <a:solidFill>
                  <a:schemeClr val="tx1"/>
                </a:solidFill>
                <a:latin typeface="Corbel"/>
                <a:sym typeface="Oswald"/>
              </a:rPr>
              <a:t>AI-Powered Document Search and Summarization System</a:t>
            </a:r>
            <a:endParaRPr lang="fr-FR" sz="2400">
              <a:solidFill>
                <a:schemeClr val="tx1"/>
              </a:solidFill>
              <a:latin typeface="Corbel"/>
              <a:ea typeface="Oswald"/>
              <a:cs typeface="Oswald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sz="2500">
              <a:solidFill>
                <a:schemeClr val="tx1"/>
              </a:solidFill>
              <a:latin typeface="Oswald"/>
              <a:ea typeface="Oswald"/>
              <a:cs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tx1"/>
              </a:solidFill>
              <a:latin typeface="Oswald"/>
              <a:ea typeface="Oswald"/>
              <a:cs typeface="Oswald"/>
            </a:endParaRPr>
          </a:p>
          <a:p>
            <a:pPr algn="ctr"/>
            <a:r>
              <a:rPr lang="en" sz="2400">
                <a:solidFill>
                  <a:schemeClr val="tx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2500">
                <a:solidFill>
                  <a:schemeClr val="tx1"/>
                </a:solidFill>
                <a:latin typeface="Oswald"/>
                <a:ea typeface="Oswald"/>
                <a:cs typeface="Oswald"/>
                <a:sym typeface="Oswald"/>
              </a:rPr>
              <a:t>&lt;/AI Detectives Team&gt;</a:t>
            </a:r>
            <a:endParaRPr sz="2500">
              <a:solidFill>
                <a:schemeClr val="tx1"/>
              </a:solidFill>
              <a:latin typeface="Oswald"/>
              <a:ea typeface="Oswald"/>
              <a:cs typeface="Oswald"/>
            </a:endParaRPr>
          </a:p>
          <a:p>
            <a:pPr algn="ctr"/>
            <a:r>
              <a:rPr lang="en" sz="2500">
                <a:solidFill>
                  <a:schemeClr val="bg2"/>
                </a:solidFill>
                <a:latin typeface="Oswald"/>
                <a:ea typeface="Oswald"/>
                <a:cs typeface="Oswald"/>
              </a:rPr>
              <a:t>Catherine Maameri, Cristina </a:t>
            </a:r>
            <a:r>
              <a:rPr lang="en" sz="2500" err="1">
                <a:solidFill>
                  <a:schemeClr val="bg2"/>
                </a:solidFill>
                <a:latin typeface="Oswald"/>
                <a:ea typeface="Oswald"/>
                <a:cs typeface="Oswald"/>
              </a:rPr>
              <a:t>Moussoungedi</a:t>
            </a:r>
            <a:r>
              <a:rPr lang="en" sz="2500">
                <a:solidFill>
                  <a:schemeClr val="bg2"/>
                </a:solidFill>
                <a:latin typeface="Oswald"/>
                <a:ea typeface="Oswald"/>
                <a:cs typeface="Oswald"/>
              </a:rPr>
              <a:t>, Adel Zitouni</a:t>
            </a:r>
          </a:p>
          <a:p>
            <a:pPr algn="ctr"/>
            <a:endParaRPr lang="fr-FR" sz="2500">
              <a:solidFill>
                <a:schemeClr val="dk1"/>
              </a:solidFill>
              <a:latin typeface="Oswald"/>
              <a:ea typeface="Oswald"/>
              <a:cs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80" y="327930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2782231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43184" cy="51435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D46902-8754-8060-1659-6C9E686E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234440"/>
            <a:ext cx="2642159" cy="3353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Bef>
                <a:spcPct val="0"/>
              </a:spcBef>
            </a:pPr>
            <a:r>
              <a:rPr lang="en-US" sz="39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2C074B-98FA-2E6E-F006-8C864E17A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5804" y="962289"/>
            <a:ext cx="4439628" cy="335311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1143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r>
              <a:rPr lang="en-US" sz="1400" b="1"/>
              <a:t>Introduction</a:t>
            </a:r>
            <a:endParaRPr lang="fr-FR"/>
          </a:p>
          <a:p>
            <a:pPr marL="1143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br>
              <a:rPr lang="en-US" sz="1100" dirty="0"/>
            </a:br>
            <a:endParaRPr lang="en-US" sz="1400" b="1"/>
          </a:p>
          <a:p>
            <a:pPr marL="1397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r>
              <a:rPr lang="en-US" sz="1400" b="1"/>
              <a:t>Présentation du Sujet</a:t>
            </a:r>
          </a:p>
          <a:p>
            <a:pPr marL="1143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br>
              <a:rPr lang="en-US" sz="1100" dirty="0"/>
            </a:br>
            <a:endParaRPr lang="en-US" sz="1400" b="1"/>
          </a:p>
          <a:p>
            <a:pPr marL="1397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r>
              <a:rPr lang="en-US" sz="1400" b="1"/>
              <a:t>Architecture &amp; Fonctionnement</a:t>
            </a:r>
          </a:p>
          <a:p>
            <a:pPr marL="1143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br>
              <a:rPr lang="en-US" sz="1100" dirty="0"/>
            </a:br>
            <a:endParaRPr lang="en-US" sz="1400" b="1"/>
          </a:p>
          <a:p>
            <a:pPr marL="1397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r>
              <a:rPr lang="en-US" sz="1400" b="1"/>
              <a:t>Conclusion &amp; Perspectives</a:t>
            </a:r>
          </a:p>
          <a:p>
            <a:pPr marL="1143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br>
              <a:rPr lang="en-US" sz="1100" dirty="0"/>
            </a:br>
            <a:endParaRPr lang="en-US" sz="1400" b="1"/>
          </a:p>
          <a:p>
            <a:pPr marL="1397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r>
              <a:rPr lang="en-US" sz="1400" b="1"/>
              <a:t>Appendix</a:t>
            </a:r>
          </a:p>
          <a:p>
            <a:pPr marL="139700" indent="0">
              <a:lnSpc>
                <a:spcPct val="90000"/>
              </a:lnSpc>
              <a:spcBef>
                <a:spcPts val="1000"/>
              </a:spcBef>
              <a:buSzPct val="80000"/>
              <a:buNone/>
            </a:pPr>
            <a:endParaRPr lang="en-US" sz="1100"/>
          </a:p>
          <a:p>
            <a:pPr marL="571500" indent="-45720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03411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3D5DA-1D0D-BF0C-AA32-D2FBB370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300" y="1283758"/>
            <a:ext cx="6619243" cy="1436735"/>
          </a:xfrm>
        </p:spPr>
        <p:txBody>
          <a:bodyPr/>
          <a:lstStyle/>
          <a:p>
            <a:pPr algn="ctr"/>
            <a:r>
              <a:rPr lang="fr-FR" sz="7100"/>
              <a:t>Introduction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66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02115-3024-C78E-268D-38F84D43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>
                <a:ea typeface="+mj-lt"/>
                <a:cs typeface="+mj-lt"/>
              </a:rPr>
              <a:t>Le défi : trop d’information, pas assez</a:t>
            </a:r>
            <a:r>
              <a:rPr lang="fr-FR">
                <a:ea typeface="+mj-lt"/>
                <a:cs typeface="+mj-lt"/>
              </a:rPr>
              <a:t> </a:t>
            </a:r>
            <a:r>
              <a:rPr lang="fr-FR" sz="3200">
                <a:ea typeface="+mj-lt"/>
                <a:cs typeface="+mj-lt"/>
              </a:rPr>
              <a:t>de temps</a:t>
            </a:r>
            <a:endParaRPr lang="fr-FR" sz="32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F0132F-F425-A236-3D94-AFBD3E96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743" y="1286283"/>
            <a:ext cx="4573403" cy="23517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8AD0D6"/>
              </a:buClr>
            </a:pPr>
            <a:r>
              <a:rPr lang="fr-FR" sz="1600">
                <a:ea typeface="+mj-lt"/>
                <a:cs typeface="+mj-lt"/>
              </a:rPr>
              <a:t>Les documents longs sont difficiles à lire et analyser manuellement.</a:t>
            </a:r>
          </a:p>
          <a:p>
            <a:pPr>
              <a:buClr>
                <a:srgbClr val="8AD0D6"/>
              </a:buClr>
            </a:pPr>
            <a:r>
              <a:rPr lang="fr-FR" sz="1600">
                <a:ea typeface="+mj-lt"/>
                <a:cs typeface="+mj-lt"/>
              </a:rPr>
              <a:t>La recherche d’informations pertinentes est lente et imprécise.</a:t>
            </a:r>
          </a:p>
          <a:p>
            <a:pPr>
              <a:buClr>
                <a:srgbClr val="8AD0D6"/>
              </a:buClr>
            </a:pPr>
            <a:r>
              <a:rPr lang="fr-FR" sz="1600">
                <a:ea typeface="+mj-lt"/>
                <a:cs typeface="+mj-lt"/>
              </a:rPr>
              <a:t>Les résumés manuels demandent beaucoup de temps et d’effort.</a:t>
            </a:r>
            <a:endParaRPr lang="fr-FR" sz="1600"/>
          </a:p>
          <a:p>
            <a:pPr>
              <a:buClr>
                <a:srgbClr val="8AD0D6"/>
              </a:buClr>
            </a:pPr>
            <a:endParaRPr lang="fr-FR" sz="1600"/>
          </a:p>
          <a:p>
            <a:pPr>
              <a:buNone/>
            </a:pPr>
            <a:r>
              <a:rPr lang="en" sz="1600"/>
              <a:t>Notre </a:t>
            </a:r>
            <a:r>
              <a:rPr lang="en" sz="1600" err="1"/>
              <a:t>système</a:t>
            </a:r>
            <a:r>
              <a:rPr lang="en" sz="1600"/>
              <a:t> RAG </a:t>
            </a:r>
            <a:r>
              <a:rPr lang="en" sz="1600" b="1" err="1"/>
              <a:t>retrouve</a:t>
            </a:r>
            <a:r>
              <a:rPr lang="en" sz="1600" b="1"/>
              <a:t> et </a:t>
            </a:r>
            <a:r>
              <a:rPr lang="en" sz="1600" b="1" err="1"/>
              <a:t>résume</a:t>
            </a:r>
            <a:r>
              <a:rPr lang="en" sz="1600" b="1"/>
              <a:t> </a:t>
            </a:r>
            <a:r>
              <a:rPr lang="en" sz="1600" b="1" err="1"/>
              <a:t>automatiquement</a:t>
            </a:r>
            <a:r>
              <a:rPr lang="en" sz="1600"/>
              <a:t> les </a:t>
            </a:r>
            <a:r>
              <a:rPr lang="en" sz="1600" err="1"/>
              <a:t>informations</a:t>
            </a:r>
            <a:r>
              <a:rPr lang="en" sz="1600"/>
              <a:t> </a:t>
            </a:r>
            <a:r>
              <a:rPr lang="en" sz="1600" err="1"/>
              <a:t>pertinentes</a:t>
            </a:r>
            <a:r>
              <a:rPr lang="en" sz="1600"/>
              <a:t>, </a:t>
            </a:r>
            <a:r>
              <a:rPr lang="en" sz="1600" err="1"/>
              <a:t>rendant</a:t>
            </a:r>
            <a:r>
              <a:rPr lang="en" sz="1600"/>
              <a:t> la recherche </a:t>
            </a:r>
            <a:r>
              <a:rPr lang="en" sz="1600" b="1"/>
              <a:t>plus </a:t>
            </a:r>
            <a:r>
              <a:rPr lang="en" sz="1600" b="1" err="1"/>
              <a:t>rapide</a:t>
            </a:r>
            <a:r>
              <a:rPr lang="en" sz="1600" b="1"/>
              <a:t> et plus </a:t>
            </a:r>
            <a:r>
              <a:rPr lang="en" sz="1600" b="1" err="1"/>
              <a:t>claire</a:t>
            </a:r>
            <a:r>
              <a:rPr lang="en" sz="1600"/>
              <a:t>.</a:t>
            </a:r>
            <a:endParaRPr lang="fr-FR" sz="16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fr-FR" sz="1800"/>
          </a:p>
        </p:txBody>
      </p:sp>
      <p:pic>
        <p:nvPicPr>
          <p:cNvPr id="4" name="Image 3" descr="Une image contenant texte, livre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BA8DFDFB-88C9-9502-C2BA-91FB62CA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71" y="1811097"/>
            <a:ext cx="3517900" cy="23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0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9338-2CC9-7BA4-4A15-ACD47D20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AEDCF-834A-30AD-52D8-CBE09BC8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34" y="2566937"/>
            <a:ext cx="6619243" cy="1436735"/>
          </a:xfrm>
        </p:spPr>
        <p:txBody>
          <a:bodyPr/>
          <a:lstStyle/>
          <a:p>
            <a:pPr algn="ctr"/>
            <a:r>
              <a:rPr lang="fr-FR" sz="7100"/>
              <a:t>Présentation du sujet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968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030B539-A442-36A5-002E-D94D78B4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D2420D4-E966-0288-0273-45D25776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sz="2400" err="1">
                <a:solidFill>
                  <a:srgbClr val="FFFFFF"/>
                </a:solidFill>
                <a:ea typeface="+mj-lt"/>
                <a:cs typeface="+mj-lt"/>
              </a:rPr>
              <a:t>Objectifs</a:t>
            </a:r>
            <a:r>
              <a:rPr lang="en" sz="2400">
                <a:solidFill>
                  <a:srgbClr val="FFFFFF"/>
                </a:solidFill>
                <a:ea typeface="+mj-lt"/>
                <a:cs typeface="+mj-lt"/>
              </a:rPr>
              <a:t> &amp; Jeux de données</a:t>
            </a:r>
            <a:endParaRPr lang="fr-FR"/>
          </a:p>
        </p:txBody>
      </p:sp>
      <p:sp>
        <p:nvSpPr>
          <p:cNvPr id="110" name="Google Shape;110;p26">
            <a:extLst>
              <a:ext uri="{FF2B5EF4-FFF2-40B4-BE49-F238E27FC236}">
                <a16:creationId xmlns:a16="http://schemas.microsoft.com/office/drawing/2014/main" id="{857D7AF8-53C0-2730-5A6E-37A87073C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24414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14999"/>
              </a:lnSpc>
              <a:buClr>
                <a:srgbClr val="8AD0D6"/>
              </a:buClr>
              <a:buNone/>
            </a:pPr>
            <a:r>
              <a:rPr lang="en" sz="1600" err="1">
                <a:ea typeface="+mj-lt"/>
                <a:cs typeface="+mj-lt"/>
              </a:rPr>
              <a:t>Objectifs</a:t>
            </a:r>
            <a:r>
              <a:rPr lang="en" sz="1600">
                <a:ea typeface="+mj-lt"/>
                <a:cs typeface="+mj-lt"/>
              </a:rPr>
              <a:t> :</a:t>
            </a:r>
          </a:p>
          <a:p>
            <a:pPr marL="400050" indent="-285750">
              <a:lnSpc>
                <a:spcPct val="114999"/>
              </a:lnSpc>
              <a:buClr>
                <a:srgbClr val="8AD0D6"/>
              </a:buClr>
            </a:pPr>
            <a:endParaRPr lang="en" sz="1600">
              <a:ea typeface="+mj-lt"/>
              <a:cs typeface="+mj-lt"/>
            </a:endParaRPr>
          </a:p>
          <a:p>
            <a:pPr marL="400050" indent="-285750">
              <a:lnSpc>
                <a:spcPct val="114999"/>
              </a:lnSpc>
              <a:buClr>
                <a:srgbClr val="8AD0D6"/>
              </a:buClr>
            </a:pPr>
            <a:r>
              <a:rPr lang="en" sz="1600">
                <a:ea typeface="+mj-lt"/>
                <a:cs typeface="+mj-lt"/>
              </a:rPr>
              <a:t>Ingestion multi-formats (PDF, TXT)</a:t>
            </a:r>
            <a:endParaRPr lang="en">
              <a:ea typeface="+mj-lt"/>
              <a:cs typeface="+mj-lt"/>
            </a:endParaRPr>
          </a:p>
          <a:p>
            <a:pPr marL="400050" indent="-285750">
              <a:lnSpc>
                <a:spcPct val="114999"/>
              </a:lnSpc>
              <a:buClr>
                <a:srgbClr val="8AD0D6"/>
              </a:buClr>
            </a:pPr>
            <a:r>
              <a:rPr lang="en" sz="1600">
                <a:ea typeface="+mj-lt"/>
                <a:cs typeface="+mj-lt"/>
              </a:rPr>
              <a:t>Recherche </a:t>
            </a:r>
            <a:r>
              <a:rPr lang="en" sz="1600" err="1">
                <a:ea typeface="+mj-lt"/>
                <a:cs typeface="+mj-lt"/>
              </a:rPr>
              <a:t>sémantique</a:t>
            </a:r>
            <a:endParaRPr lang="en" err="1">
              <a:ea typeface="+mj-lt"/>
              <a:cs typeface="+mj-lt"/>
            </a:endParaRPr>
          </a:p>
          <a:p>
            <a:pPr marL="400050" indent="-285750">
              <a:lnSpc>
                <a:spcPct val="114999"/>
              </a:lnSpc>
              <a:buClr>
                <a:srgbClr val="8AD0D6"/>
              </a:buClr>
            </a:pPr>
            <a:r>
              <a:rPr lang="en" sz="1600">
                <a:ea typeface="+mj-lt"/>
                <a:cs typeface="+mj-lt"/>
              </a:rPr>
              <a:t>Résumé </a:t>
            </a:r>
            <a:r>
              <a:rPr lang="en" sz="1600" err="1">
                <a:ea typeface="+mj-lt"/>
                <a:cs typeface="+mj-lt"/>
              </a:rPr>
              <a:t>automatique</a:t>
            </a:r>
            <a:endParaRPr lang="en" err="1">
              <a:ea typeface="+mj-lt"/>
              <a:cs typeface="+mj-lt"/>
            </a:endParaRPr>
          </a:p>
          <a:p>
            <a:pPr marL="400050" indent="-285750">
              <a:lnSpc>
                <a:spcPct val="114999"/>
              </a:lnSpc>
              <a:buClr>
                <a:srgbClr val="8AD0D6"/>
              </a:buClr>
            </a:pPr>
            <a:r>
              <a:rPr lang="en" sz="1600" err="1">
                <a:ea typeface="+mj-lt"/>
                <a:cs typeface="+mj-lt"/>
              </a:rPr>
              <a:t>Fonctionnement</a:t>
            </a:r>
            <a:r>
              <a:rPr lang="en" sz="1600">
                <a:ea typeface="+mj-lt"/>
                <a:cs typeface="+mj-lt"/>
              </a:rPr>
              <a:t> 100% local (CPU only)</a:t>
            </a:r>
            <a:endParaRPr lang="en">
              <a:ea typeface="+mj-lt"/>
              <a:cs typeface="+mj-lt"/>
            </a:endParaRPr>
          </a:p>
          <a:p>
            <a:pPr marL="285750" indent="-285750">
              <a:lnSpc>
                <a:spcPct val="114999"/>
              </a:lnSpc>
              <a:buClr>
                <a:srgbClr val="8AD0D6"/>
              </a:buClr>
            </a:pPr>
            <a:endParaRPr lang="en" sz="160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F117240-D92E-BEE1-6A1F-43286C05972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2441489"/>
          </a:xfrm>
        </p:spPr>
        <p:txBody>
          <a:bodyPr/>
          <a:lstStyle/>
          <a:p>
            <a:pPr marL="139700" indent="0">
              <a:buNone/>
            </a:pPr>
            <a:r>
              <a:rPr lang="fr-FR" sz="1600">
                <a:ea typeface="+mj-lt"/>
                <a:cs typeface="+mj-lt"/>
              </a:rPr>
              <a:t>Jeux de données :</a:t>
            </a:r>
          </a:p>
          <a:p>
            <a:pPr marL="139700" indent="0">
              <a:buNone/>
            </a:pPr>
            <a:endParaRPr lang="fr-FR" sz="1600">
              <a:ea typeface="+mj-lt"/>
              <a:cs typeface="+mj-lt"/>
            </a:endParaRPr>
          </a:p>
          <a:p>
            <a:pPr>
              <a:buFont typeface="Courier New" charset="2"/>
              <a:buChar char="o"/>
            </a:pPr>
            <a:r>
              <a:rPr lang="fr-FR" sz="1600">
                <a:ea typeface="+mj-lt"/>
                <a:cs typeface="+mj-lt"/>
              </a:rPr>
              <a:t> Documents publics de l’UNESCO</a:t>
            </a:r>
          </a:p>
          <a:p>
            <a:pPr>
              <a:buClr>
                <a:srgbClr val="8AD0D6"/>
              </a:buClr>
              <a:buFont typeface="Courier New" charset="2"/>
              <a:buChar char="o"/>
            </a:pPr>
            <a:r>
              <a:rPr lang="fr-FR" sz="1600">
                <a:ea typeface="+mj-lt"/>
                <a:cs typeface="+mj-lt"/>
              </a:rPr>
              <a:t>PDF + fichiers texte</a:t>
            </a:r>
          </a:p>
          <a:p>
            <a:pPr>
              <a:buClr>
                <a:srgbClr val="8AD0D6"/>
              </a:buClr>
              <a:buFont typeface="Courier New" charset="2"/>
              <a:buChar char="o"/>
            </a:pPr>
            <a:r>
              <a:rPr lang="fr-FR" sz="1600">
                <a:ea typeface="+mj-lt"/>
                <a:cs typeface="+mj-lt"/>
              </a:rPr>
              <a:t>Contenu riche et structuré (définitions, analyses, politiques)</a:t>
            </a:r>
          </a:p>
          <a:p>
            <a:pPr>
              <a:buClr>
                <a:srgbClr val="8AD0D6"/>
              </a:buClr>
              <a:buFont typeface="Courier New" charset="2"/>
              <a:buChar char="o"/>
            </a:pPr>
            <a:r>
              <a:rPr lang="fr-FR" sz="1600">
                <a:ea typeface="+mj-lt"/>
                <a:cs typeface="+mj-lt"/>
              </a:rPr>
              <a:t>Longueurs et styles différents → parfait pour évaluer le RAG</a:t>
            </a:r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3616275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9564CB4C-3DAB-952D-D1D1-642107E3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>
            <a:extLst>
              <a:ext uri="{FF2B5EF4-FFF2-40B4-BE49-F238E27FC236}">
                <a16:creationId xmlns:a16="http://schemas.microsoft.com/office/drawing/2014/main" id="{1DE38A07-D7D6-C96B-B175-77902908B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155" y="11621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>
                <a:ea typeface="+mj-lt"/>
                <a:cs typeface="+mj-lt"/>
              </a:rPr>
              <a:t>Boîtes</a:t>
            </a:r>
            <a:r>
              <a:rPr lang="en">
                <a:ea typeface="+mj-lt"/>
                <a:cs typeface="+mj-lt"/>
              </a:rPr>
              <a:t> à outils utilisés</a:t>
            </a:r>
            <a:endParaRPr lang="fr-FR" err="1"/>
          </a:p>
        </p:txBody>
      </p:sp>
      <p:sp>
        <p:nvSpPr>
          <p:cNvPr id="117" name="Google Shape;117;p27">
            <a:extLst>
              <a:ext uri="{FF2B5EF4-FFF2-40B4-BE49-F238E27FC236}">
                <a16:creationId xmlns:a16="http://schemas.microsoft.com/office/drawing/2014/main" id="{50D17336-34EE-ADC2-DCE2-3A5EB106C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5614" y="1050701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2" indent="0">
              <a:lnSpc>
                <a:spcPct val="114999"/>
              </a:lnSpc>
              <a:buClr>
                <a:srgbClr val="ADADAD"/>
              </a:buClr>
              <a:buNone/>
            </a:pPr>
            <a:r>
              <a:rPr lang="en" sz="2000" b="1" err="1"/>
              <a:t>BootCamp</a:t>
            </a:r>
            <a:endParaRPr lang="en" sz="2000" b="1"/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Python</a:t>
            </a:r>
            <a:endParaRPr lang="en" sz="1400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 err="1">
                <a:solidFill>
                  <a:schemeClr val="tx1">
                    <a:lumMod val="85000"/>
                  </a:schemeClr>
                </a:solidFill>
              </a:rPr>
              <a:t>Jupyter</a:t>
            </a: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 / VS Code</a:t>
            </a:r>
            <a:r>
              <a:rPr lang="en" sz="1400">
                <a:solidFill>
                  <a:schemeClr val="tx1">
                    <a:lumMod val="85000"/>
                  </a:schemeClr>
                </a:solidFill>
              </a:rPr>
              <a:t> 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PyPDF2</a:t>
            </a:r>
            <a:r>
              <a:rPr lang="en" sz="1400">
                <a:solidFill>
                  <a:schemeClr val="tx1">
                    <a:lumMod val="85000"/>
                  </a:schemeClr>
                </a:solidFill>
              </a:rPr>
              <a:t> (extraction PDF)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Sentence-Transformers</a:t>
            </a:r>
            <a:r>
              <a:rPr lang="en" sz="1400">
                <a:solidFill>
                  <a:schemeClr val="tx1">
                    <a:lumMod val="85000"/>
                  </a:schemeClr>
                </a:solidFill>
              </a:rPr>
              <a:t> (embeddings)</a:t>
            </a: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FAISS</a:t>
            </a:r>
            <a:r>
              <a:rPr lang="en" sz="1400">
                <a:solidFill>
                  <a:schemeClr val="tx1">
                    <a:lumMod val="85000"/>
                  </a:schemeClr>
                </a:solidFill>
              </a:rPr>
              <a:t> (similarity search)</a:t>
            </a: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Transformers (t5-small)</a:t>
            </a:r>
            <a:r>
              <a:rPr lang="en" sz="1400">
                <a:solidFill>
                  <a:schemeClr val="tx1">
                    <a:lumMod val="85000"/>
                  </a:schemeClr>
                </a:solidFill>
              </a:rPr>
              <a:t> 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Vector store + metadata structure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Chunking &amp; preprocessing</a:t>
            </a:r>
            <a:endParaRPr lang="en" sz="1400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  <a:buClr>
                <a:srgbClr val="ADADAD"/>
              </a:buClr>
            </a:pPr>
            <a:r>
              <a:rPr lang="en" sz="1400" b="1">
                <a:solidFill>
                  <a:schemeClr val="tx1">
                    <a:lumMod val="85000"/>
                  </a:schemeClr>
                </a:solidFill>
              </a:rPr>
              <a:t>Evaluation methods (precision/recall)</a:t>
            </a:r>
            <a:endParaRPr lang="en" sz="140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SzPts val="2800"/>
              <a:buNone/>
            </a:pPr>
            <a:endParaRPr lang="en"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A1E7750-0BCC-0DDB-D47E-9BF93894EA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5855" y="1050701"/>
            <a:ext cx="3999900" cy="3416400"/>
          </a:xfrm>
        </p:spPr>
        <p:txBody>
          <a:bodyPr/>
          <a:lstStyle/>
          <a:p>
            <a:pPr marL="596900" lvl="1" indent="0">
              <a:buNone/>
            </a:pPr>
            <a:r>
              <a:rPr lang="fr-FR" sz="2000" b="1"/>
              <a:t>Appris par soi-même</a:t>
            </a:r>
          </a:p>
          <a:p>
            <a:pPr>
              <a:buClr>
                <a:srgbClr val="8AD0D6"/>
              </a:buClr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r>
              <a:rPr lang="en" b="1">
                <a:solidFill>
                  <a:schemeClr val="tx1">
                    <a:lumMod val="85000"/>
                  </a:schemeClr>
                </a:solidFill>
              </a:rPr>
              <a:t>Human evaluation grid (clarity, relevance, coherence)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r>
              <a:rPr lang="en" b="1">
                <a:solidFill>
                  <a:schemeClr val="tx1">
                    <a:lumMod val="85000"/>
                  </a:schemeClr>
                </a:solidFill>
              </a:rPr>
              <a:t>Managing files and folder structure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>
              <a:buClr>
                <a:srgbClr val="8AD0D6"/>
              </a:buClr>
            </a:pPr>
            <a:r>
              <a:rPr lang="en" b="1">
                <a:solidFill>
                  <a:schemeClr val="tx1">
                    <a:lumMod val="85000"/>
                  </a:schemeClr>
                </a:solidFill>
              </a:rPr>
              <a:t>Colab integration in VS Code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64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33" name="Oval 13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0331F6A-DA09-422D-8CED-00C0B4585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07C2F65-00C4-451C-8BFA-E765DEC17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0549" y="0"/>
            <a:ext cx="241173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5868876" y="1085849"/>
            <a:ext cx="2048594" cy="357505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1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Fonctionnalités développées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0DDF752-B2A6-49DC-B474-8E1F71AF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3644" y="0"/>
            <a:ext cx="1078992" cy="51435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47133" y="429681"/>
            <a:ext cx="4712238" cy="3575051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Documents </a:t>
            </a:r>
            <a:r>
              <a:rPr lang="en-US" sz="1400" err="1"/>
              <a:t>collectés</a:t>
            </a:r>
            <a:r>
              <a:rPr lang="en-US" sz="1400"/>
              <a:t> (PDF &amp; TXT)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"Text extraction" (PyPDF2)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Cleaning &amp; preprocessing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Chunking of documents (200–500 tokens)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Embedding generation (Sentence-Transformers)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FAISS vector search for top-k relevant passages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Custom retrieval function (</a:t>
            </a:r>
            <a:r>
              <a:rPr lang="en-US" sz="1400" err="1"/>
              <a:t>get_results</a:t>
            </a:r>
            <a:r>
              <a:rPr lang="en-US" sz="1400"/>
              <a:t>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Summarization module (T5-small)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Concatenation &amp; summarization of top-k chunks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Search evaluation (</a:t>
            </a:r>
            <a:r>
              <a:rPr lang="en-US" sz="1400" err="1"/>
              <a:t>precision@k</a:t>
            </a:r>
            <a:r>
              <a:rPr lang="en-US" sz="1400"/>
              <a:t>, </a:t>
            </a:r>
            <a:r>
              <a:rPr lang="en-US" sz="1400" err="1"/>
              <a:t>recall@k</a:t>
            </a:r>
            <a:r>
              <a:rPr lang="en-US" sz="1400"/>
              <a:t>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Human evaluation (clarity, relevance, fluency, coherence)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Error handling for unsupported formats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/>
              <a:t>Metadata storage (source, </a:t>
            </a:r>
            <a:r>
              <a:rPr lang="en-US" sz="1400" err="1"/>
              <a:t>chunk_id</a:t>
            </a:r>
            <a:r>
              <a:rPr lang="en-US" sz="1400"/>
              <a:t>, text)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0492-4F85-D26A-68DE-D7F2B37D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4AE2D-361E-A682-9999-18CFB705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61" y="-268996"/>
            <a:ext cx="7719110" cy="4563810"/>
          </a:xfrm>
        </p:spPr>
        <p:txBody>
          <a:bodyPr/>
          <a:lstStyle/>
          <a:p>
            <a:pPr algn="ctr"/>
            <a:r>
              <a:rPr lang="fr-FR" sz="7100"/>
              <a:t>Architecture</a:t>
            </a:r>
            <a:br>
              <a:rPr lang="fr-FR" sz="7100" dirty="0"/>
            </a:br>
            <a:r>
              <a:rPr lang="fr-FR" sz="7100"/>
              <a:t> et Fonctionnement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30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999C6-2B4B-00DF-B21F-1F362362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A3E19D24-003E-2AEE-35D0-4988DB0F7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97" y="1068933"/>
            <a:ext cx="7923321" cy="3760236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8F7D3F80-FB47-B6F7-2A5F-8206E566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01" y="6163"/>
            <a:ext cx="7942542" cy="1060981"/>
          </a:xfrm>
        </p:spPr>
        <p:txBody>
          <a:bodyPr/>
          <a:lstStyle/>
          <a:p>
            <a:r>
              <a:rPr lang="fr-FR"/>
              <a:t>Streamlit: Interface utilisateur</a:t>
            </a:r>
          </a:p>
        </p:txBody>
      </p:sp>
    </p:spTree>
    <p:extLst>
      <p:ext uri="{BB962C8B-B14F-4D97-AF65-F5344CB8AC3E}">
        <p14:creationId xmlns:p14="http://schemas.microsoft.com/office/powerpoint/2010/main" val="270427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6911E-E401-E6F9-62DD-30A1E48F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9B1B778-283B-B72B-3962-A15A3115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2" y="858643"/>
            <a:ext cx="7748131" cy="3213929"/>
          </a:xfrm>
          <a:prstGeom prst="rect">
            <a:avLst/>
          </a:prstGeom>
        </p:spPr>
      </p:pic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CCC18FD-179B-7B65-3B80-C28A8BF5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09" y="4180945"/>
            <a:ext cx="7754409" cy="964142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6CEB73C9-3E73-7033-4A25-D7D46699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34" y="871"/>
            <a:ext cx="8052608" cy="1050398"/>
          </a:xfrm>
        </p:spPr>
        <p:txBody>
          <a:bodyPr/>
          <a:lstStyle/>
          <a:p>
            <a:r>
              <a:rPr lang="fr-FR"/>
              <a:t>Requête, Réponse et Résumé</a:t>
            </a:r>
          </a:p>
        </p:txBody>
      </p:sp>
    </p:spTree>
    <p:extLst>
      <p:ext uri="{BB962C8B-B14F-4D97-AF65-F5344CB8AC3E}">
        <p14:creationId xmlns:p14="http://schemas.microsoft.com/office/powerpoint/2010/main" val="147436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3B5F-5E09-3B09-BD3F-258B5847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C30B4C6-1EEB-AA54-6476-93A255A1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20" y="891516"/>
            <a:ext cx="8145263" cy="4009649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B2A584-ECC0-A7F5-7764-A5B35051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76" y="871"/>
            <a:ext cx="8048375" cy="1050398"/>
          </a:xfrm>
        </p:spPr>
        <p:txBody>
          <a:bodyPr/>
          <a:lstStyle/>
          <a:p>
            <a:r>
              <a:rPr lang="fr-FR"/>
              <a:t>Requête, Réponse et Résumé</a:t>
            </a:r>
          </a:p>
        </p:txBody>
      </p:sp>
    </p:spTree>
    <p:extLst>
      <p:ext uri="{BB962C8B-B14F-4D97-AF65-F5344CB8AC3E}">
        <p14:creationId xmlns:p14="http://schemas.microsoft.com/office/powerpoint/2010/main" val="2968714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34A8-0315-3622-1ABB-25E1E518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ACFA3B-54BE-859F-2738-1F788379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76" y="582863"/>
            <a:ext cx="6619243" cy="3981527"/>
          </a:xfrm>
        </p:spPr>
        <p:txBody>
          <a:bodyPr/>
          <a:lstStyle/>
          <a:p>
            <a:pPr algn="ctr"/>
            <a:r>
              <a:rPr lang="fr-FR" sz="7100"/>
              <a:t>Conclusion</a:t>
            </a:r>
            <a:br>
              <a:rPr lang="fr-FR" sz="7100" dirty="0"/>
            </a:br>
            <a:r>
              <a:rPr lang="fr-FR" sz="7100"/>
              <a:t> et </a:t>
            </a:r>
            <a:br>
              <a:rPr lang="fr-FR" sz="7100" dirty="0"/>
            </a:br>
            <a:r>
              <a:rPr lang="fr-FR" sz="7100"/>
              <a:t>Perspectives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66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129">
          <a:extLst>
            <a:ext uri="{FF2B5EF4-FFF2-40B4-BE49-F238E27FC236}">
              <a16:creationId xmlns:a16="http://schemas.microsoft.com/office/drawing/2014/main" id="{FF2BC28C-2658-50E9-43B3-E8230C81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43" name="Oval 14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51435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371600"/>
            <a:ext cx="0" cy="24003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156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671060"/>
            <a:ext cx="745301" cy="571500"/>
          </a:xfrm>
          <a:prstGeom prst="rect">
            <a:avLst/>
          </a:prstGeom>
        </p:spPr>
      </p:pic>
      <p:sp>
        <p:nvSpPr>
          <p:cNvPr id="159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5142309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18575C3B-F673-2125-BADF-41CB578D9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4646" y="603504"/>
            <a:ext cx="2641019" cy="393649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err="1">
                <a:ea typeface="+mj-lt"/>
                <a:cs typeface="+mj-lt"/>
              </a:rPr>
              <a:t>Pourquoi</a:t>
            </a:r>
            <a:r>
              <a:rPr lang="en-US" sz="3600">
                <a:ea typeface="+mj-lt"/>
                <a:cs typeface="+mj-lt"/>
              </a:rPr>
              <a:t> </a:t>
            </a:r>
            <a:r>
              <a:rPr lang="en-US" sz="3600" err="1">
                <a:ea typeface="+mj-lt"/>
                <a:cs typeface="+mj-lt"/>
              </a:rPr>
              <a:t>notre</a:t>
            </a:r>
            <a:r>
              <a:rPr lang="en-US" sz="3600">
                <a:ea typeface="+mj-lt"/>
                <a:cs typeface="+mj-lt"/>
              </a:rPr>
              <a:t> solution fait la </a:t>
            </a:r>
            <a:r>
              <a:rPr lang="en-US" sz="3600" err="1">
                <a:ea typeface="+mj-lt"/>
                <a:cs typeface="+mj-lt"/>
              </a:rPr>
              <a:t>différence</a:t>
            </a:r>
            <a:endParaRPr lang="fr-FR" err="1">
              <a:ea typeface="+mj-ea"/>
              <a:cs typeface="+mj-cs"/>
            </a:endParaRPr>
          </a:p>
          <a:p>
            <a:pPr marL="285750" lvl="0" indent="-285750" algn="ctr">
              <a:spcBef>
                <a:spcPct val="0"/>
              </a:spcBef>
              <a:spcAft>
                <a:spcPts val="0"/>
              </a:spcAft>
            </a:pPr>
            <a:endParaRPr lang="en-US" sz="3600" b="0" i="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4" name="Google Shape;134;p29">
            <a:extLst>
              <a:ext uri="{FF2B5EF4-FFF2-40B4-BE49-F238E27FC236}">
                <a16:creationId xmlns:a16="http://schemas.microsoft.com/office/drawing/2014/main" id="{77912666-E3AE-CE2F-222E-A560F1C1F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895" y="603503"/>
            <a:ext cx="4799948" cy="393649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2500"/>
          </a:bodyPr>
          <a:lstStyle/>
          <a:p>
            <a:pPr marL="114300" indent="0">
              <a:buClr>
                <a:srgbClr val="8AD0D6"/>
              </a:buClr>
              <a:buSzPct val="80000"/>
              <a:buNone/>
            </a:pPr>
            <a:endParaRPr lang="en-US" sz="1400" b="1">
              <a:ea typeface="+mj-lt"/>
              <a:cs typeface="+mj-lt"/>
            </a:endParaRPr>
          </a:p>
          <a:p>
            <a:pPr marL="114300" indent="0">
              <a:buNone/>
            </a:pPr>
            <a:endParaRPr lang="en-US" sz="1400" b="1">
              <a:ea typeface="+mj-lt"/>
              <a:cs typeface="+mj-lt"/>
            </a:endParaRPr>
          </a:p>
          <a:p>
            <a:pPr marL="114300" indent="0">
              <a:buNone/>
            </a:pPr>
            <a:endParaRPr lang="en-US" sz="1400" b="1">
              <a:ea typeface="+mj-lt"/>
              <a:cs typeface="+mj-lt"/>
            </a:endParaRPr>
          </a:p>
          <a:p>
            <a:pPr marL="114300" indent="0">
              <a:buNone/>
            </a:pPr>
            <a:r>
              <a:rPr lang="en-US" sz="1400" b="1">
                <a:ea typeface="+mj-lt"/>
                <a:cs typeface="+mj-lt"/>
              </a:rPr>
              <a:t>Notre solution </a:t>
            </a:r>
            <a:r>
              <a:rPr lang="en-US" sz="1400" b="1" err="1">
                <a:ea typeface="+mj-lt"/>
                <a:cs typeface="+mj-lt"/>
              </a:rPr>
              <a:t>transforme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totalement</a:t>
            </a:r>
            <a:r>
              <a:rPr lang="en-US" sz="1400" b="1">
                <a:ea typeface="+mj-lt"/>
                <a:cs typeface="+mj-lt"/>
              </a:rPr>
              <a:t> la manière de </a:t>
            </a:r>
            <a:r>
              <a:rPr lang="en-US" sz="1400" b="1" err="1">
                <a:ea typeface="+mj-lt"/>
                <a:cs typeface="+mj-lt"/>
              </a:rPr>
              <a:t>rechercher</a:t>
            </a:r>
            <a:r>
              <a:rPr lang="en-US" sz="1400" b="1">
                <a:ea typeface="+mj-lt"/>
                <a:cs typeface="+mj-lt"/>
              </a:rPr>
              <a:t> et </a:t>
            </a:r>
            <a:r>
              <a:rPr lang="en-US" sz="1400" b="1" err="1">
                <a:ea typeface="+mj-lt"/>
                <a:cs typeface="+mj-lt"/>
              </a:rPr>
              <a:t>comprendre</a:t>
            </a:r>
            <a:r>
              <a:rPr lang="en-US" sz="1400" b="1">
                <a:ea typeface="+mj-lt"/>
                <a:cs typeface="+mj-lt"/>
              </a:rPr>
              <a:t> des documents </a:t>
            </a:r>
            <a:r>
              <a:rPr lang="en-US" sz="1400" b="1" err="1">
                <a:ea typeface="+mj-lt"/>
                <a:cs typeface="+mj-lt"/>
              </a:rPr>
              <a:t>volumineux</a:t>
            </a:r>
            <a:r>
              <a:rPr lang="en-US" sz="1400" b="1">
                <a:ea typeface="+mj-lt"/>
                <a:cs typeface="+mj-lt"/>
              </a:rPr>
              <a:t>.</a:t>
            </a:r>
            <a:endParaRPr lang="fr-FR" sz="1400">
              <a:ea typeface="+mj-lt"/>
              <a:cs typeface="+mj-lt"/>
            </a:endParaRPr>
          </a:p>
          <a:p>
            <a:pPr marL="114300" indent="0">
              <a:buNone/>
            </a:pPr>
            <a:br>
              <a:rPr lang="en-US" sz="1400" b="1">
                <a:ea typeface="+mj-lt"/>
                <a:cs typeface="+mj-lt"/>
              </a:rPr>
            </a:br>
            <a:r>
              <a:rPr lang="en-US" sz="1400" b="1">
                <a:ea typeface="+mj-lt"/>
                <a:cs typeface="+mj-lt"/>
              </a:rPr>
              <a:t> Elle </a:t>
            </a:r>
            <a:r>
              <a:rPr lang="en-US" sz="1400" b="1" err="1">
                <a:ea typeface="+mj-lt"/>
                <a:cs typeface="+mj-lt"/>
              </a:rPr>
              <a:t>permet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en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quelques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secondes</a:t>
            </a:r>
            <a:r>
              <a:rPr lang="en-US" sz="1400" b="1">
                <a:ea typeface="+mj-lt"/>
                <a:cs typeface="+mj-lt"/>
              </a:rPr>
              <a:t> :</a:t>
            </a:r>
            <a:endParaRPr lang="fr-FR" sz="1400"/>
          </a:p>
          <a:p>
            <a:pPr>
              <a:buClr>
                <a:srgbClr val="8AD0D6"/>
              </a:buClr>
            </a:pP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une</a:t>
            </a:r>
            <a:r>
              <a:rPr lang="en-US" sz="1400" b="1">
                <a:ea typeface="+mj-lt"/>
                <a:cs typeface="+mj-lt"/>
              </a:rPr>
              <a:t> recherche </a:t>
            </a:r>
            <a:r>
              <a:rPr lang="en-US" sz="1400" b="1" err="1">
                <a:ea typeface="+mj-lt"/>
                <a:cs typeface="+mj-lt"/>
              </a:rPr>
              <a:t>intelligente</a:t>
            </a:r>
            <a:r>
              <a:rPr lang="en-US" sz="1400">
                <a:ea typeface="+mj-lt"/>
                <a:cs typeface="+mj-lt"/>
              </a:rPr>
              <a:t>, bien plus </a:t>
            </a:r>
            <a:r>
              <a:rPr lang="en-US" sz="1400" err="1">
                <a:ea typeface="+mj-lt"/>
                <a:cs typeface="+mj-lt"/>
              </a:rPr>
              <a:t>précise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qu’un</a:t>
            </a:r>
            <a:r>
              <a:rPr lang="en-US" sz="1400">
                <a:ea typeface="+mj-lt"/>
                <a:cs typeface="+mj-lt"/>
              </a:rPr>
              <a:t> simple CTRL+F</a:t>
            </a:r>
            <a:endParaRPr lang="en-US" sz="1400"/>
          </a:p>
          <a:p>
            <a:pPr>
              <a:buClr>
                <a:srgbClr val="8AD0D6"/>
              </a:buClr>
              <a:buFont typeface="Wingdings 3" charset="2"/>
              <a:buChar char="●"/>
            </a:pPr>
            <a:r>
              <a:rPr lang="en-US" sz="1400" b="1">
                <a:ea typeface="+mj-lt"/>
                <a:cs typeface="+mj-lt"/>
              </a:rPr>
              <a:t>des résumés </a:t>
            </a:r>
            <a:r>
              <a:rPr lang="en-US" sz="1400" b="1" err="1">
                <a:ea typeface="+mj-lt"/>
                <a:cs typeface="+mj-lt"/>
              </a:rPr>
              <a:t>clairs</a:t>
            </a:r>
            <a:r>
              <a:rPr lang="en-US" sz="140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même</a:t>
            </a:r>
            <a:r>
              <a:rPr lang="en-US" sz="1400">
                <a:ea typeface="+mj-lt"/>
                <a:cs typeface="+mj-lt"/>
              </a:rPr>
              <a:t> pour des </a:t>
            </a:r>
            <a:r>
              <a:rPr lang="en-US" sz="1400" err="1">
                <a:ea typeface="+mj-lt"/>
                <a:cs typeface="+mj-lt"/>
              </a:rPr>
              <a:t>textes</a:t>
            </a:r>
            <a:r>
              <a:rPr lang="en-US" sz="1400">
                <a:ea typeface="+mj-lt"/>
                <a:cs typeface="+mj-lt"/>
              </a:rPr>
              <a:t> longs, </a:t>
            </a:r>
            <a:r>
              <a:rPr lang="en-US" sz="1400" err="1">
                <a:ea typeface="+mj-lt"/>
                <a:cs typeface="+mj-lt"/>
              </a:rPr>
              <a:t>denses</a:t>
            </a:r>
            <a:r>
              <a:rPr lang="en-US" sz="140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ou</a:t>
            </a:r>
            <a:r>
              <a:rPr lang="en-US" sz="1400">
                <a:ea typeface="+mj-lt"/>
                <a:cs typeface="+mj-lt"/>
              </a:rPr>
              <a:t> techniques</a:t>
            </a:r>
            <a:endParaRPr lang="en-US" sz="1400"/>
          </a:p>
          <a:p>
            <a:pPr>
              <a:buClr>
                <a:srgbClr val="8AD0D6"/>
              </a:buClr>
            </a:pPr>
            <a:r>
              <a:rPr lang="en-US" sz="1400" b="1">
                <a:ea typeface="+mj-lt"/>
                <a:cs typeface="+mj-lt"/>
              </a:rPr>
              <a:t>un </a:t>
            </a:r>
            <a:r>
              <a:rPr lang="en-US" sz="1400" b="1" err="1">
                <a:ea typeface="+mj-lt"/>
                <a:cs typeface="+mj-lt"/>
              </a:rPr>
              <a:t>accès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instantané</a:t>
            </a:r>
            <a:r>
              <a:rPr lang="en-US" sz="1400" b="1">
                <a:ea typeface="+mj-lt"/>
                <a:cs typeface="+mj-lt"/>
              </a:rPr>
              <a:t> à </a:t>
            </a:r>
            <a:r>
              <a:rPr lang="en-US" sz="1400" b="1" err="1">
                <a:ea typeface="+mj-lt"/>
                <a:cs typeface="+mj-lt"/>
              </a:rPr>
              <a:t>l’information</a:t>
            </a:r>
            <a:r>
              <a:rPr lang="en-US" sz="1400" b="1">
                <a:ea typeface="+mj-lt"/>
                <a:cs typeface="+mj-lt"/>
              </a:rPr>
              <a:t> utile</a:t>
            </a:r>
            <a:r>
              <a:rPr lang="en-US" sz="1400">
                <a:ea typeface="+mj-lt"/>
                <a:cs typeface="+mj-lt"/>
              </a:rPr>
              <a:t>, sans </a:t>
            </a:r>
            <a:r>
              <a:rPr lang="en-US" sz="1400" err="1">
                <a:ea typeface="+mj-lt"/>
                <a:cs typeface="+mj-lt"/>
              </a:rPr>
              <a:t>perdre</a:t>
            </a:r>
            <a:r>
              <a:rPr lang="en-US" sz="1400">
                <a:ea typeface="+mj-lt"/>
                <a:cs typeface="+mj-lt"/>
              </a:rPr>
              <a:t> du temps dans des </a:t>
            </a:r>
            <a:r>
              <a:rPr lang="en-US" sz="1400" err="1">
                <a:ea typeface="+mj-lt"/>
                <a:cs typeface="+mj-lt"/>
              </a:rPr>
              <a:t>centaines</a:t>
            </a:r>
            <a:r>
              <a:rPr lang="en-US" sz="1400">
                <a:ea typeface="+mj-lt"/>
                <a:cs typeface="+mj-lt"/>
              </a:rPr>
              <a:t> de pages</a:t>
            </a:r>
            <a:endParaRPr lang="en-US" sz="1400"/>
          </a:p>
          <a:p>
            <a:pPr>
              <a:buClr>
                <a:srgbClr val="8AD0D6"/>
              </a:buClr>
              <a:buFont typeface="Wingdings 3" charset="2"/>
              <a:buChar char="●"/>
            </a:pPr>
            <a:r>
              <a:rPr lang="en-US" sz="1400" b="1" err="1">
                <a:ea typeface="+mj-lt"/>
                <a:cs typeface="+mj-lt"/>
              </a:rPr>
              <a:t>une</a:t>
            </a:r>
            <a:r>
              <a:rPr lang="en-US" sz="1400" b="1">
                <a:ea typeface="+mj-lt"/>
                <a:cs typeface="+mj-lt"/>
              </a:rPr>
              <a:t> interface simple</a:t>
            </a:r>
            <a:r>
              <a:rPr lang="en-US" sz="140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directement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utilisable</a:t>
            </a:r>
            <a:r>
              <a:rPr lang="en-US" sz="1400">
                <a:ea typeface="+mj-lt"/>
                <a:cs typeface="+mj-lt"/>
              </a:rPr>
              <a:t> par </a:t>
            </a:r>
            <a:r>
              <a:rPr lang="en-US" sz="1400" err="1">
                <a:ea typeface="+mj-lt"/>
                <a:cs typeface="+mj-lt"/>
              </a:rPr>
              <a:t>n’importe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quel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étudiant</a:t>
            </a:r>
            <a:r>
              <a:rPr lang="en-US" sz="140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chercheur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ou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professionnel</a:t>
            </a:r>
            <a:endParaRPr lang="en-US" sz="1400"/>
          </a:p>
          <a:p>
            <a:pPr>
              <a:buClr>
                <a:srgbClr val="8AD0D6"/>
              </a:buClr>
            </a:pPr>
            <a:endParaRPr lang="en-US" sz="1400">
              <a:ea typeface="+mj-lt"/>
              <a:cs typeface="+mj-lt"/>
            </a:endParaRPr>
          </a:p>
          <a:p>
            <a:pPr marL="114300" indent="0">
              <a:buClr>
                <a:srgbClr val="8AD0D6"/>
              </a:buClr>
              <a:buNone/>
            </a:pPr>
            <a:r>
              <a:rPr lang="en-US" sz="1400" b="1">
                <a:ea typeface="+mj-lt"/>
                <a:cs typeface="+mj-lt"/>
              </a:rPr>
              <a:t>En résumé : </a:t>
            </a:r>
            <a:r>
              <a:rPr lang="en-US" sz="1400" b="1" err="1">
                <a:ea typeface="+mj-lt"/>
                <a:cs typeface="+mj-lt"/>
              </a:rPr>
              <a:t>notre</a:t>
            </a:r>
            <a:r>
              <a:rPr lang="en-US" sz="1400" b="1">
                <a:ea typeface="+mj-lt"/>
                <a:cs typeface="+mj-lt"/>
              </a:rPr>
              <a:t> </a:t>
            </a:r>
            <a:r>
              <a:rPr lang="en-US" sz="1400" b="1" err="1">
                <a:ea typeface="+mj-lt"/>
                <a:cs typeface="+mj-lt"/>
              </a:rPr>
              <a:t>outil</a:t>
            </a:r>
            <a:r>
              <a:rPr lang="en-US" sz="1400" b="1">
                <a:ea typeface="+mj-lt"/>
                <a:cs typeface="+mj-lt"/>
              </a:rPr>
              <a:t> fait </a:t>
            </a:r>
            <a:r>
              <a:rPr lang="en-US" sz="1400" b="1" err="1">
                <a:ea typeface="+mj-lt"/>
                <a:cs typeface="+mj-lt"/>
              </a:rPr>
              <a:t>gagner</a:t>
            </a:r>
            <a:r>
              <a:rPr lang="en-US" sz="1400" b="1">
                <a:ea typeface="+mj-lt"/>
                <a:cs typeface="+mj-lt"/>
              </a:rPr>
              <a:t> du temps, </a:t>
            </a:r>
            <a:r>
              <a:rPr lang="en-US" sz="1400" b="1" err="1">
                <a:ea typeface="+mj-lt"/>
                <a:cs typeface="+mj-lt"/>
              </a:rPr>
              <a:t>apporte</a:t>
            </a:r>
            <a:r>
              <a:rPr lang="en-US" sz="1400" b="1">
                <a:ea typeface="+mj-lt"/>
                <a:cs typeface="+mj-lt"/>
              </a:rPr>
              <a:t> de la </a:t>
            </a:r>
            <a:r>
              <a:rPr lang="en-US" sz="1400" b="1" err="1">
                <a:ea typeface="+mj-lt"/>
                <a:cs typeface="+mj-lt"/>
              </a:rPr>
              <a:t>clarté</a:t>
            </a:r>
            <a:r>
              <a:rPr lang="en-US" sz="1400" b="1">
                <a:ea typeface="+mj-lt"/>
                <a:cs typeface="+mj-lt"/>
              </a:rPr>
              <a:t>, et </a:t>
            </a:r>
            <a:r>
              <a:rPr lang="en-US" sz="1400" b="1" err="1">
                <a:ea typeface="+mj-lt"/>
                <a:cs typeface="+mj-lt"/>
              </a:rPr>
              <a:t>améliore</a:t>
            </a:r>
            <a:r>
              <a:rPr lang="en-US" sz="1400" b="1">
                <a:ea typeface="+mj-lt"/>
                <a:cs typeface="+mj-lt"/>
              </a:rPr>
              <a:t> la </a:t>
            </a:r>
            <a:r>
              <a:rPr lang="en-US" sz="1400" b="1" err="1">
                <a:ea typeface="+mj-lt"/>
                <a:cs typeface="+mj-lt"/>
              </a:rPr>
              <a:t>prise</a:t>
            </a:r>
            <a:r>
              <a:rPr lang="en-US" sz="1400" b="1">
                <a:ea typeface="+mj-lt"/>
                <a:cs typeface="+mj-lt"/>
              </a:rPr>
              <a:t> de </a:t>
            </a:r>
            <a:r>
              <a:rPr lang="en-US" sz="1400" b="1" err="1">
                <a:ea typeface="+mj-lt"/>
                <a:cs typeface="+mj-lt"/>
              </a:rPr>
              <a:t>décision</a:t>
            </a:r>
            <a:r>
              <a:rPr lang="en-US" sz="1400" b="1">
                <a:ea typeface="+mj-lt"/>
                <a:cs typeface="+mj-lt"/>
              </a:rPr>
              <a:t>.</a:t>
            </a:r>
            <a:endParaRPr lang="en-US" sz="1400"/>
          </a:p>
          <a:p>
            <a:pPr>
              <a:spcBef>
                <a:spcPts val="1000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endParaRPr lang="en-US"/>
          </a:p>
          <a:p>
            <a:pPr marL="0" indent="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4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129">
          <a:extLst>
            <a:ext uri="{FF2B5EF4-FFF2-40B4-BE49-F238E27FC236}">
              <a16:creationId xmlns:a16="http://schemas.microsoft.com/office/drawing/2014/main" id="{CE45B864-FA8B-9071-AEC6-35260958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1985E796-E1AA-64EF-18B1-02A2437A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AD021399-162A-8E91-4A1F-AE83D5FF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43" name="Oval 142">
            <a:extLst>
              <a:ext uri="{FF2B5EF4-FFF2-40B4-BE49-F238E27FC236}">
                <a16:creationId xmlns:a16="http://schemas.microsoft.com/office/drawing/2014/main" id="{D2FE0D6A-DB46-9BFC-4119-1BBB58AA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420A22A7-3D86-636B-B979-A8E0F573F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ADAB1A44-1F6B-B8C1-5459-D24B90A2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6885EE77-A597-5B17-BD3E-2713A4FA7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852B0B9-FF3B-6672-940B-10B4DE791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F9290229-DA51-8EFA-A54A-43C0E3EB5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51435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0809876-7681-CD5A-EF43-9E89B3F79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371600"/>
            <a:ext cx="0" cy="24003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156">
            <a:extLst>
              <a:ext uri="{FF2B5EF4-FFF2-40B4-BE49-F238E27FC236}">
                <a16:creationId xmlns:a16="http://schemas.microsoft.com/office/drawing/2014/main" id="{E0AE1189-8D05-D576-2B71-BABB5681C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671060"/>
            <a:ext cx="745301" cy="571500"/>
          </a:xfrm>
          <a:prstGeom prst="rect">
            <a:avLst/>
          </a:prstGeom>
        </p:spPr>
      </p:pic>
      <p:sp>
        <p:nvSpPr>
          <p:cNvPr id="159" name="Freeform 5">
            <a:extLst>
              <a:ext uri="{FF2B5EF4-FFF2-40B4-BE49-F238E27FC236}">
                <a16:creationId xmlns:a16="http://schemas.microsoft.com/office/drawing/2014/main" id="{5736DD29-0F89-72D0-BD68-7B6D32A65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5142309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6744CE54-925B-FBB5-152B-9E90DDAD1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4646" y="603504"/>
            <a:ext cx="2641019" cy="393649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Limitations</a:t>
            </a:r>
          </a:p>
          <a:p>
            <a:pPr marL="285750" lvl="0" indent="-285750" algn="ctr">
              <a:spcBef>
                <a:spcPct val="0"/>
              </a:spcBef>
              <a:spcAft>
                <a:spcPts val="0"/>
              </a:spcAft>
            </a:pPr>
            <a:endParaRPr lang="en-US" sz="3600" b="0" i="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4" name="Google Shape;134;p29">
            <a:extLst>
              <a:ext uri="{FF2B5EF4-FFF2-40B4-BE49-F238E27FC236}">
                <a16:creationId xmlns:a16="http://schemas.microsoft.com/office/drawing/2014/main" id="{EA1961A9-7CA4-2023-35C1-9C73A217D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895" y="603503"/>
            <a:ext cx="4833565" cy="436511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Données </a:t>
            </a:r>
            <a:r>
              <a:rPr lang="en-US" err="1"/>
              <a:t>hétérogènes</a:t>
            </a:r>
            <a:endParaRPr lang="en-US" dirty="0"/>
          </a:p>
          <a:p>
            <a:pPr marL="114300" indent="0">
              <a:spcBef>
                <a:spcPts val="1000"/>
              </a:spcBef>
              <a:buClr>
                <a:srgbClr val="8AD0D6"/>
              </a:buClr>
              <a:buSzPct val="80000"/>
              <a:buNone/>
            </a:pPr>
            <a:endParaRPr lang="en-US"/>
          </a:p>
          <a:p>
            <a:pPr>
              <a:spcBef>
                <a:spcPts val="1000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/>
              <a:t>Test terrain non réalisé</a:t>
            </a:r>
          </a:p>
          <a:p>
            <a:pPr marL="114300" indent="0">
              <a:spcBef>
                <a:spcPts val="1000"/>
              </a:spcBef>
              <a:buClr>
                <a:srgbClr val="8AD0D6"/>
              </a:buClr>
              <a:buSzPct val="80000"/>
              <a:buNone/>
            </a:pPr>
            <a:endParaRPr lang="en-US"/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Petit Modèle (T5-small) → résumés </a:t>
            </a:r>
            <a:r>
              <a:rPr lang="en-US" err="1"/>
              <a:t>parfois</a:t>
            </a:r>
            <a:r>
              <a:rPr lang="en-US" dirty="0"/>
              <a:t> </a:t>
            </a:r>
            <a:r>
              <a:rPr lang="en-US" err="1"/>
              <a:t>génériques</a:t>
            </a:r>
            <a:endParaRPr lang="en-US"/>
          </a:p>
          <a:p>
            <a:pPr marL="114300" indent="0">
              <a:spcBef>
                <a:spcPts val="1000"/>
              </a:spcBef>
              <a:buClr>
                <a:srgbClr val="8AD0D6"/>
              </a:buClr>
              <a:buSzPct val="80000"/>
              <a:buNone/>
            </a:pPr>
            <a:endParaRPr lang="en-US"/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Pas de fine-tuning</a:t>
            </a:r>
          </a:p>
          <a:p>
            <a:pPr marL="285750" indent="-28575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/>
          </a:p>
          <a:p>
            <a:pPr marL="0" indent="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28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129">
          <a:extLst>
            <a:ext uri="{FF2B5EF4-FFF2-40B4-BE49-F238E27FC236}">
              <a16:creationId xmlns:a16="http://schemas.microsoft.com/office/drawing/2014/main" id="{2F847C85-A693-9675-4368-CB34A5AA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54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59" name="Oval 158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65" name="Rectangle 16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8AC96579-5C88-6BA2-78B0-B2EA554C2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8948" y="339538"/>
            <a:ext cx="3479177" cy="10503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300"/>
              <a:t>Améliorations Futures</a:t>
            </a:r>
          </a:p>
          <a:p>
            <a:pPr marL="285750" lvl="0" indent="-28575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endParaRPr lang="en-US" sz="3300"/>
          </a:p>
        </p:txBody>
      </p:sp>
      <p:sp>
        <p:nvSpPr>
          <p:cNvPr id="16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71281" y="-1179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 descr="Graphique financier numérique">
            <a:extLst>
              <a:ext uri="{FF2B5EF4-FFF2-40B4-BE49-F238E27FC236}">
                <a16:creationId xmlns:a16="http://schemas.microsoft.com/office/drawing/2014/main" id="{54219BB7-792F-357B-378E-A5E69222D5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358" r="24853"/>
          <a:stretch>
            <a:fillRect/>
          </a:stretch>
        </p:blipFill>
        <p:spPr>
          <a:xfrm>
            <a:off x="2" y="10"/>
            <a:ext cx="3729824" cy="5143490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4" name="Google Shape;134;p29">
            <a:extLst>
              <a:ext uri="{FF2B5EF4-FFF2-40B4-BE49-F238E27FC236}">
                <a16:creationId xmlns:a16="http://schemas.microsoft.com/office/drawing/2014/main" id="{8F90F039-6532-4D49-F17E-7C0377BE8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212" y="1539688"/>
            <a:ext cx="3479177" cy="314661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/>
              <a:t>Support DOCX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/>
              <a:t>Embeddings plus </a:t>
            </a:r>
            <a:r>
              <a:rPr lang="en-US" sz="1700" err="1"/>
              <a:t>puissants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/>
              <a:t>Chunking </a:t>
            </a:r>
            <a:r>
              <a:rPr lang="en-US" sz="1700" err="1"/>
              <a:t>dynamique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 err="1"/>
              <a:t>Modèle</a:t>
            </a:r>
            <a:r>
              <a:rPr lang="en-US" sz="1700"/>
              <a:t> de résumé plus grand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/>
              <a:t>Interface web </a:t>
            </a:r>
            <a:r>
              <a:rPr lang="en-US" sz="1700" err="1"/>
              <a:t>complète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/>
              <a:t>Gestion du Multi-Langues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700"/>
              <a:t>Chatbot intelligent pour dialogue multi-questions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7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700"/>
          </a:p>
          <a:p>
            <a:pPr marL="0" indent="0"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843195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420C9-90E9-1908-4C40-31FB517D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78A00-E808-6E01-BD92-D7EB3A5A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300" y="1283758"/>
            <a:ext cx="6619243" cy="1436735"/>
          </a:xfrm>
        </p:spPr>
        <p:txBody>
          <a:bodyPr/>
          <a:lstStyle/>
          <a:p>
            <a:r>
              <a:rPr lang="fr-FR" sz="7100"/>
              <a:t>5. Appendix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6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08124" y="126357"/>
            <a:ext cx="6359281" cy="586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err="1">
                <a:solidFill>
                  <a:schemeClr val="tx1"/>
                </a:solidFill>
                <a:latin typeface="Corbel"/>
                <a:sym typeface="Oswald"/>
              </a:rPr>
              <a:t>Difficultés</a:t>
            </a:r>
            <a:r>
              <a:rPr lang="en" sz="2800">
                <a:solidFill>
                  <a:schemeClr val="tx1"/>
                </a:solidFill>
                <a:latin typeface="Corbel"/>
                <a:sym typeface="Oswald"/>
              </a:rPr>
              <a:t> </a:t>
            </a:r>
            <a:r>
              <a:rPr lang="en" sz="2800" err="1">
                <a:solidFill>
                  <a:schemeClr val="tx1"/>
                </a:solidFill>
                <a:latin typeface="Corbel"/>
                <a:sym typeface="Oswald"/>
              </a:rPr>
              <a:t>surmontées</a:t>
            </a:r>
            <a:endParaRPr lang="fr-FR" sz="2800" err="1">
              <a:solidFill>
                <a:schemeClr val="tx1"/>
              </a:solidFill>
              <a:latin typeface="Corbel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  <a:p>
            <a:pPr marL="285750" indent="-285750">
              <a:buChar char="•"/>
            </a:pPr>
            <a:endParaRPr 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b="1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endParaRPr lang="fr-FR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  <a:p>
            <a:endParaRPr lang="fr-FR" sz="240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208621" y="1151908"/>
            <a:ext cx="375970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" sz="1800" b="1"/>
              <a:t>Techniques</a:t>
            </a:r>
            <a:endParaRPr lang="fr-FR" sz="1800"/>
          </a:p>
          <a:p>
            <a:pPr>
              <a:lnSpc>
                <a:spcPct val="114999"/>
              </a:lnSpc>
              <a:buNone/>
            </a:pPr>
            <a:endParaRPr lang="en" b="1"/>
          </a:p>
          <a:p>
            <a:pPr marL="285750" indent="-285750">
              <a:lnSpc>
                <a:spcPct val="114999"/>
              </a:lnSpc>
            </a:pPr>
            <a:r>
              <a:rPr lang="en" sz="1200"/>
              <a:t>Gestion de </a:t>
            </a:r>
            <a:r>
              <a:rPr lang="en" sz="1200" err="1"/>
              <a:t>différents</a:t>
            </a:r>
            <a:r>
              <a:rPr lang="en" sz="1200"/>
              <a:t> formats de </a:t>
            </a:r>
            <a:r>
              <a:rPr lang="en" sz="1200" err="1"/>
              <a:t>fichiers</a:t>
            </a:r>
            <a:r>
              <a:rPr lang="en" sz="1200"/>
              <a:t> (PDF, TXT)</a:t>
            </a:r>
          </a:p>
          <a:p>
            <a:pPr marL="285750" indent="-285750">
              <a:lnSpc>
                <a:spcPct val="114999"/>
              </a:lnSpc>
            </a:pPr>
            <a:r>
              <a:rPr lang="en" sz="1200"/>
              <a:t>Extraction de </a:t>
            </a:r>
            <a:r>
              <a:rPr lang="en" sz="1200" err="1"/>
              <a:t>texte</a:t>
            </a:r>
            <a:r>
              <a:rPr lang="en" sz="1200"/>
              <a:t> </a:t>
            </a:r>
            <a:r>
              <a:rPr lang="en" sz="1200" err="1"/>
              <a:t>parfois</a:t>
            </a:r>
            <a:r>
              <a:rPr lang="en" sz="1200"/>
              <a:t> </a:t>
            </a:r>
            <a:r>
              <a:rPr lang="en" sz="1200" err="1"/>
              <a:t>bruyante</a:t>
            </a:r>
            <a:r>
              <a:rPr lang="en" sz="1200"/>
              <a:t> </a:t>
            </a:r>
            <a:r>
              <a:rPr lang="en" sz="1200" err="1"/>
              <a:t>ou</a:t>
            </a:r>
            <a:r>
              <a:rPr lang="en" sz="1200"/>
              <a:t> </a:t>
            </a:r>
            <a:r>
              <a:rPr lang="en" sz="1200" err="1"/>
              <a:t>incomplète</a:t>
            </a:r>
            <a:endParaRPr lang="en" sz="1200"/>
          </a:p>
          <a:p>
            <a:pPr marL="285750" indent="-285750">
              <a:lnSpc>
                <a:spcPct val="114999"/>
              </a:lnSpc>
            </a:pPr>
            <a:r>
              <a:rPr lang="en" sz="1200" err="1"/>
              <a:t>Découpage</a:t>
            </a:r>
            <a:r>
              <a:rPr lang="en" sz="1200"/>
              <a:t> optimal des documents </a:t>
            </a:r>
            <a:r>
              <a:rPr lang="en" sz="1200" err="1"/>
              <a:t>en</a:t>
            </a:r>
            <a:r>
              <a:rPr lang="en" sz="1200"/>
              <a:t> chunks</a:t>
            </a:r>
          </a:p>
          <a:p>
            <a:pPr marL="285750" indent="-285750">
              <a:lnSpc>
                <a:spcPct val="114999"/>
              </a:lnSpc>
            </a:pPr>
            <a:r>
              <a:rPr lang="en" sz="1200" err="1"/>
              <a:t>Création</a:t>
            </a:r>
            <a:r>
              <a:rPr lang="en" sz="1200"/>
              <a:t> et interrogation de </a:t>
            </a:r>
            <a:r>
              <a:rPr lang="en" sz="1200" err="1"/>
              <a:t>l’index</a:t>
            </a:r>
            <a:r>
              <a:rPr lang="en" sz="1200"/>
              <a:t> FAISS</a:t>
            </a:r>
          </a:p>
          <a:p>
            <a:pPr marL="285750" indent="-285750">
              <a:lnSpc>
                <a:spcPct val="114999"/>
              </a:lnSpc>
            </a:pPr>
            <a:r>
              <a:rPr lang="en" sz="1200" err="1"/>
              <a:t>Problèmes</a:t>
            </a:r>
            <a:r>
              <a:rPr lang="en" sz="1200"/>
              <a:t> de </a:t>
            </a:r>
            <a:r>
              <a:rPr lang="en" sz="1200" err="1"/>
              <a:t>compatibilité</a:t>
            </a:r>
            <a:r>
              <a:rPr lang="en" sz="1200"/>
              <a:t> (VS Code ↔ Colab)</a:t>
            </a:r>
          </a:p>
          <a:p>
            <a:pPr marL="285750" indent="-285750">
              <a:lnSpc>
                <a:spcPct val="114999"/>
              </a:lnSpc>
            </a:pPr>
            <a:r>
              <a:rPr lang="en" sz="1200" err="1"/>
              <a:t>Avertissements</a:t>
            </a:r>
            <a:r>
              <a:rPr lang="en" sz="1200"/>
              <a:t> / </a:t>
            </a:r>
            <a:r>
              <a:rPr lang="en" sz="1200" err="1"/>
              <a:t>limites</a:t>
            </a:r>
            <a:r>
              <a:rPr lang="en" sz="1200"/>
              <a:t> du </a:t>
            </a:r>
            <a:r>
              <a:rPr lang="en" sz="1200" err="1"/>
              <a:t>modèle</a:t>
            </a:r>
            <a:r>
              <a:rPr lang="en" sz="1200"/>
              <a:t> T5-small</a:t>
            </a:r>
          </a:p>
          <a:p>
            <a:pPr marL="285750" indent="-285750">
              <a:lnSpc>
                <a:spcPct val="114999"/>
              </a:lnSpc>
            </a:pPr>
            <a:r>
              <a:rPr lang="en" sz="1200"/>
              <a:t>Mise </a:t>
            </a:r>
            <a:r>
              <a:rPr lang="en" sz="1200" err="1"/>
              <a:t>en</a:t>
            </a:r>
            <a:r>
              <a:rPr lang="en" sz="1200"/>
              <a:t> place de </a:t>
            </a:r>
            <a:r>
              <a:rPr lang="en" sz="1200" err="1"/>
              <a:t>l’évaluation</a:t>
            </a:r>
            <a:r>
              <a:rPr lang="en" sz="1200"/>
              <a:t> (</a:t>
            </a:r>
            <a:r>
              <a:rPr lang="en" sz="1200" err="1"/>
              <a:t>precision@k</a:t>
            </a:r>
            <a:r>
              <a:rPr lang="en" sz="1200"/>
              <a:t>, </a:t>
            </a:r>
            <a:r>
              <a:rPr lang="en" sz="1200" err="1"/>
              <a:t>recall@k</a:t>
            </a:r>
            <a:r>
              <a:rPr lang="en" sz="1200"/>
              <a:t>)</a:t>
            </a: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en"/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2"/>
          </p:nvPr>
        </p:nvSpPr>
        <p:spPr>
          <a:xfrm>
            <a:off x="4570136" y="862811"/>
            <a:ext cx="420895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" sz="1800" b="1" err="1">
                <a:solidFill>
                  <a:schemeClr val="tx1">
                    <a:lumMod val="85000"/>
                  </a:schemeClr>
                </a:solidFill>
              </a:rPr>
              <a:t>Humaines</a:t>
            </a:r>
            <a:r>
              <a:rPr lang="en" sz="1800" b="1">
                <a:solidFill>
                  <a:schemeClr val="tx1">
                    <a:lumMod val="85000"/>
                  </a:schemeClr>
                </a:solidFill>
              </a:rPr>
              <a:t> &amp; </a:t>
            </a:r>
            <a:r>
              <a:rPr lang="en" sz="1800" b="1" err="1">
                <a:solidFill>
                  <a:schemeClr val="tx1">
                    <a:lumMod val="85000"/>
                  </a:schemeClr>
                </a:solidFill>
              </a:rPr>
              <a:t>Organisationnelles</a:t>
            </a:r>
            <a:endParaRPr lang="fr-FR" sz="1800">
              <a:solidFill>
                <a:schemeClr val="tx1">
                  <a:lumMod val="85000"/>
                </a:schemeClr>
              </a:solidFill>
            </a:endParaRPr>
          </a:p>
          <a:p>
            <a:pPr>
              <a:lnSpc>
                <a:spcPct val="114999"/>
              </a:lnSpc>
              <a:buNone/>
            </a:pPr>
            <a:endParaRPr lang="en" b="1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en">
                <a:solidFill>
                  <a:schemeClr val="tx1">
                    <a:lumMod val="85000"/>
                  </a:schemeClr>
                </a:solidFill>
              </a:rPr>
              <a:t>Coordination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efficace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dans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l’équipe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Répartition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des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tâches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et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synchronisation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des versions</a:t>
            </a:r>
          </a:p>
          <a:p>
            <a:pPr marL="285750" indent="-285750">
              <a:lnSpc>
                <a:spcPct val="114999"/>
              </a:lnSpc>
            </a:pPr>
            <a:r>
              <a:rPr lang="en">
                <a:solidFill>
                  <a:schemeClr val="tx1">
                    <a:lumMod val="85000"/>
                  </a:schemeClr>
                </a:solidFill>
              </a:rPr>
              <a:t>Gestion du stress et du temps pendant le hackathon</a:t>
            </a:r>
          </a:p>
          <a:p>
            <a:pPr marL="285750" indent="-285750">
              <a:lnSpc>
                <a:spcPct val="114999"/>
              </a:lnSpc>
            </a:pPr>
            <a:r>
              <a:rPr lang="en">
                <a:solidFill>
                  <a:schemeClr val="tx1">
                    <a:lumMod val="85000"/>
                  </a:schemeClr>
                </a:solidFill>
              </a:rPr>
              <a:t>Adaptation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rapide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aux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imprévus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techniques</a:t>
            </a:r>
          </a:p>
          <a:p>
            <a:pPr marL="285750" indent="-285750">
              <a:lnSpc>
                <a:spcPct val="114999"/>
              </a:lnSpc>
            </a:pPr>
            <a:r>
              <a:rPr lang="en">
                <a:solidFill>
                  <a:schemeClr val="tx1">
                    <a:lumMod val="85000"/>
                  </a:schemeClr>
                </a:solidFill>
              </a:rPr>
              <a:t>Communication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claire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pour aligner les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décisions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Apprentissage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de nouveaux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outils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en</a:t>
            </a:r>
            <a:r>
              <a:rPr lang="en">
                <a:solidFill>
                  <a:schemeClr val="tx1">
                    <a:lumMod val="85000"/>
                  </a:schemeClr>
                </a:solidFill>
              </a:rPr>
              <a:t> temps </a:t>
            </a:r>
            <a:r>
              <a:rPr lang="en" err="1">
                <a:solidFill>
                  <a:schemeClr val="tx1">
                    <a:lumMod val="85000"/>
                  </a:schemeClr>
                </a:solidFill>
              </a:rPr>
              <a:t>limité</a:t>
            </a:r>
            <a:endParaRPr lang="en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" sz="1400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>
          <a:extLst>
            <a:ext uri="{FF2B5EF4-FFF2-40B4-BE49-F238E27FC236}">
              <a16:creationId xmlns:a16="http://schemas.microsoft.com/office/drawing/2014/main" id="{328AA3CF-6D04-0B2E-C252-AA3BB8D3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73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89" name="Picture 175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1" name="Oval 177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93" name="Picture 179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4" name="Picture 181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A494B71B-52F0-C9D1-3C3C-A45F50868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891" y="1085850"/>
            <a:ext cx="2331469" cy="34290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F2F2F2"/>
                </a:solidFill>
              </a:rPr>
              <a:t>Ce dont nous sommes fiers</a:t>
            </a:r>
          </a:p>
          <a:p>
            <a:pPr marL="285750" lvl="0" indent="-285750">
              <a:spcBef>
                <a:spcPct val="0"/>
              </a:spcBef>
              <a:spcAft>
                <a:spcPts val="0"/>
              </a:spcAft>
            </a:pPr>
            <a:endParaRPr lang="en-US" sz="2400">
              <a:solidFill>
                <a:srgbClr val="F2F2F2"/>
              </a:solidFill>
            </a:endParaRPr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51435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0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196" name="Google Shape;134;p29">
            <a:extLst>
              <a:ext uri="{FF2B5EF4-FFF2-40B4-BE49-F238E27FC236}">
                <a16:creationId xmlns:a16="http://schemas.microsoft.com/office/drawing/2014/main" id="{983CE4B4-2824-5FA2-FE61-F86CDA1796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619607"/>
              </p:ext>
            </p:extLst>
          </p:nvPr>
        </p:nvGraphicFramePr>
        <p:xfrm>
          <a:off x="3786187" y="1085850"/>
          <a:ext cx="4872038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75192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Github link (PUBLIC REPO): </a:t>
            </a:r>
            <a:endParaRPr/>
          </a:p>
          <a:p>
            <a:pPr marL="0" indent="0">
              <a:buNone/>
            </a:pPr>
            <a:r>
              <a:rPr lang="en">
                <a:ea typeface="+mj-lt"/>
                <a:cs typeface="+mj-lt"/>
                <a:hlinkClick r:id="rId3"/>
              </a:rPr>
              <a:t>HACKATHON-2</a:t>
            </a:r>
            <a:endParaRPr lang="en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2-mn video link : 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ea typeface="+mj-lt"/>
                <a:cs typeface="+mj-lt"/>
                <a:hlinkClick r:id="rId4"/>
              </a:rPr>
              <a:t>https://www.loom.com/share/4f35f8a7e97b45e28a883d3857b751f0</a:t>
            </a:r>
            <a:endParaRPr lang="en">
              <a:solidFill>
                <a:srgbClr val="FFFFFF"/>
              </a:solidFill>
              <a:ea typeface="+mj-lt"/>
              <a:cs typeface="+mj-lt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en">
              <a:ea typeface="+mj-lt"/>
              <a:cs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272B8-6334-1781-D031-CF3AAAE0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04850"/>
            <a:ext cx="6619244" cy="1485900"/>
          </a:xfrm>
        </p:spPr>
        <p:txBody>
          <a:bodyPr/>
          <a:lstStyle/>
          <a:p>
            <a:r>
              <a:rPr lang="fr-FR" sz="3600"/>
              <a:t>Merci pour votre Attention!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44B835-F299-DE97-F156-19017D524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fr-FR" b="1"/>
              <a:t>Q&amp;R</a:t>
            </a:r>
          </a:p>
        </p:txBody>
      </p:sp>
    </p:spTree>
    <p:extLst>
      <p:ext uri="{BB962C8B-B14F-4D97-AF65-F5344CB8AC3E}">
        <p14:creationId xmlns:p14="http://schemas.microsoft.com/office/powerpoint/2010/main" val="1749782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21</Slides>
  <Notes>10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Ion</vt:lpstr>
      <vt:lpstr>Présentation PowerPoint</vt:lpstr>
      <vt:lpstr>Sommaire</vt:lpstr>
      <vt:lpstr>Introduction</vt:lpstr>
      <vt:lpstr>Le défi : trop d’information, pas assez de temps</vt:lpstr>
      <vt:lpstr>Présentation du sujet</vt:lpstr>
      <vt:lpstr>Objectifs &amp; Jeux de données</vt:lpstr>
      <vt:lpstr>Boîtes à outils utilisés</vt:lpstr>
      <vt:lpstr>Fonctionnalités développées</vt:lpstr>
      <vt:lpstr>Architecture  et Fonctionnement</vt:lpstr>
      <vt:lpstr>Streamlit: Interface utilisateur</vt:lpstr>
      <vt:lpstr>Requête, Réponse et Résumé</vt:lpstr>
      <vt:lpstr>Requête, Réponse et Résumé</vt:lpstr>
      <vt:lpstr>Conclusion  et  Perspectives</vt:lpstr>
      <vt:lpstr>Pourquoi notre solution fait la différence </vt:lpstr>
      <vt:lpstr>Limitations </vt:lpstr>
      <vt:lpstr>Améliorations Futures </vt:lpstr>
      <vt:lpstr>5. Appendix</vt:lpstr>
      <vt:lpstr>Présentation PowerPoint</vt:lpstr>
      <vt:lpstr>Ce dont nous sommes fiers </vt:lpstr>
      <vt:lpstr>Links</vt:lpstr>
      <vt:lpstr>Merci pour votre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27</cp:revision>
  <dcterms:modified xsi:type="dcterms:W3CDTF">2025-11-24T05:59:29Z</dcterms:modified>
</cp:coreProperties>
</file>